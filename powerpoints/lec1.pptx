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58" r:id="rId4"/>
    <p:sldId id="259" r:id="rId5"/>
    <p:sldId id="260" r:id="rId6"/>
    <p:sldId id="262" r:id="rId7"/>
    <p:sldId id="263" r:id="rId8"/>
    <p:sldId id="261" r:id="rId9"/>
    <p:sldId id="264" r:id="rId10"/>
    <p:sldId id="265" r:id="rId11"/>
    <p:sldId id="266" r:id="rId12"/>
    <p:sldId id="282" r:id="rId13"/>
    <p:sldId id="273" r:id="rId14"/>
    <p:sldId id="267" r:id="rId15"/>
    <p:sldId id="268" r:id="rId16"/>
    <p:sldId id="274" r:id="rId17"/>
    <p:sldId id="275" r:id="rId18"/>
    <p:sldId id="269" r:id="rId19"/>
    <p:sldId id="270" r:id="rId20"/>
    <p:sldId id="271" r:id="rId21"/>
    <p:sldId id="272" r:id="rId22"/>
    <p:sldId id="277" r:id="rId23"/>
    <p:sldId id="280" r:id="rId24"/>
    <p:sldId id="276" r:id="rId25"/>
    <p:sldId id="283" r:id="rId26"/>
    <p:sldId id="285" r:id="rId27"/>
    <p:sldId id="284" r:id="rId28"/>
    <p:sldId id="291" r:id="rId29"/>
    <p:sldId id="286" r:id="rId30"/>
    <p:sldId id="287" r:id="rId31"/>
    <p:sldId id="288" r:id="rId32"/>
    <p:sldId id="289" r:id="rId33"/>
    <p:sldId id="290" r:id="rId34"/>
    <p:sldId id="279" r:id="rId35"/>
    <p:sldId id="292" r:id="rId36"/>
    <p:sldId id="293" r:id="rId37"/>
    <p:sldId id="281" r:id="rId38"/>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BD1F13-AB5B-4593-8BB3-6F00C6C522CE}" v="9" dt="2025-01-29T08:51:27.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2160" autoAdjust="0"/>
  </p:normalViewPr>
  <p:slideViewPr>
    <p:cSldViewPr snapToGrid="0">
      <p:cViewPr varScale="1">
        <p:scale>
          <a:sx n="79" d="100"/>
          <a:sy n="79" d="100"/>
        </p:scale>
        <p:origin x="720" y="72"/>
      </p:cViewPr>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0684A-F492-4311-848A-E1A4BF22793A}" type="datetimeFigureOut">
              <a:rPr lang="da-DK" smtClean="0"/>
              <a:t>18-01-2026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E9132B-14EA-44E5-B7B5-A956B20A4E56}" type="slidenum">
              <a:rPr lang="da-DK" smtClean="0"/>
              <a:t>‹#›</a:t>
            </a:fld>
            <a:endParaRPr lang="da-DK"/>
          </a:p>
        </p:txBody>
      </p:sp>
    </p:spTree>
    <p:extLst>
      <p:ext uri="{BB962C8B-B14F-4D97-AF65-F5344CB8AC3E}">
        <p14:creationId xmlns:p14="http://schemas.microsoft.com/office/powerpoint/2010/main" val="186033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000" dirty="0"/>
              <a:t>Iterative and incremental development with frequent small releases </a:t>
            </a:r>
          </a:p>
          <a:p>
            <a:r>
              <a:rPr lang="en-GB" sz="4000" dirty="0"/>
              <a:t>Adaptability to changing requirements </a:t>
            </a:r>
          </a:p>
          <a:p>
            <a:r>
              <a:rPr lang="en-GB" sz="4000" dirty="0"/>
              <a:t>Continuous collaboration between development teams and stakeholders </a:t>
            </a:r>
          </a:p>
          <a:p>
            <a:r>
              <a:rPr lang="en-GB" sz="4000" dirty="0"/>
              <a:t>Customer-centric approach with rapid feedback loops </a:t>
            </a:r>
          </a:p>
          <a:p>
            <a:r>
              <a:rPr lang="en-GB" sz="4000" dirty="0"/>
              <a:t>Emphasis on working software over comprehensive documentation </a:t>
            </a:r>
          </a:p>
          <a:p>
            <a:r>
              <a:rPr lang="en-GB" sz="4000" dirty="0"/>
              <a:t>Self-organizing, cross-functional teams </a:t>
            </a:r>
          </a:p>
          <a:p>
            <a:r>
              <a:rPr lang="en-GB" sz="4000" dirty="0"/>
              <a:t>Regular reflection and process improvement</a:t>
            </a:r>
            <a:endParaRPr lang="da-DK" sz="2800" b="0" i="0" u="none" strike="noStrike" kern="1200" dirty="0">
              <a:solidFill>
                <a:srgbClr val="000000"/>
              </a:solidFill>
              <a:effectLst/>
              <a:latin typeface="Calibri" panose="020F0502020204030204" pitchFamily="34" charset="0"/>
              <a:ea typeface="+mn-ea"/>
              <a:cs typeface="+mn-cs"/>
            </a:endParaRPr>
          </a:p>
        </p:txBody>
      </p:sp>
      <p:sp>
        <p:nvSpPr>
          <p:cNvPr id="4" name="Slide Number Placeholder 3"/>
          <p:cNvSpPr>
            <a:spLocks noGrp="1"/>
          </p:cNvSpPr>
          <p:nvPr>
            <p:ph type="sldNum" sz="quarter" idx="5"/>
          </p:nvPr>
        </p:nvSpPr>
        <p:spPr/>
        <p:txBody>
          <a:bodyPr/>
          <a:lstStyle/>
          <a:p>
            <a:fld id="{20E9132B-14EA-44E5-B7B5-A956B20A4E56}" type="slidenum">
              <a:rPr lang="da-DK" smtClean="0"/>
              <a:t>11</a:t>
            </a:fld>
            <a:endParaRPr lang="da-DK"/>
          </a:p>
        </p:txBody>
      </p:sp>
    </p:spTree>
    <p:extLst>
      <p:ext uri="{BB962C8B-B14F-4D97-AF65-F5344CB8AC3E}">
        <p14:creationId xmlns:p14="http://schemas.microsoft.com/office/powerpoint/2010/main" val="2759149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Iterative development: The process is broken down into short cycles called sprints or iterations, typically lasting 2-4 weeks36.</a:t>
            </a:r>
          </a:p>
          <a:p>
            <a:r>
              <a:rPr lang="en-GB" dirty="0"/>
              <a:t>Continuous delivery: Working software is produced and delivered at the end of each iteration3.</a:t>
            </a:r>
          </a:p>
          <a:p>
            <a:r>
              <a:rPr lang="en-GB" dirty="0"/>
              <a:t>Customer collaboration: There is frequent interaction with customers or stakeholders to gather feedback and adjust requirements15.</a:t>
            </a:r>
          </a:p>
          <a:p>
            <a:r>
              <a:rPr lang="en-GB" dirty="0"/>
              <a:t>Adaptability: The process embraces change and allows for quick pivots based on new information or evolving needs2.</a:t>
            </a:r>
          </a:p>
          <a:p>
            <a:r>
              <a:rPr lang="en-GB" dirty="0"/>
              <a:t>Cross-functional teams: Development teams are self-organizing and include members with various skills needed to complete the project1.</a:t>
            </a:r>
          </a:p>
          <a:p>
            <a:r>
              <a:rPr lang="en-GB" dirty="0"/>
              <a:t>Prioritization of features: The team focuses on delivering the most valuable features first, based on customer needs26.</a:t>
            </a:r>
          </a:p>
          <a:p>
            <a:r>
              <a:rPr lang="en-GB" dirty="0"/>
              <a:t>Continuous improvement: The team regularly reflects on their process and makes adjustments to improve efficiency1.</a:t>
            </a:r>
          </a:p>
          <a:p>
            <a:r>
              <a:rPr lang="en-GB" dirty="0"/>
              <a:t>Emphasis on working software: The primary measure of progress is functional software rather than comprehensive documentation5.</a:t>
            </a:r>
          </a:p>
          <a:p>
            <a:endParaRPr lang="en-GB" dirty="0"/>
          </a:p>
          <a:p>
            <a:r>
              <a:rPr lang="da-DK" dirty="0"/>
              <a:t>https://www.techtarget.com/searchsoftwarequality/definition/agile-software-development</a:t>
            </a:r>
            <a:endParaRPr lang="en-GB" dirty="0"/>
          </a:p>
          <a:p>
            <a:r>
              <a:rPr lang="da-DK" dirty="0"/>
              <a:t>https://www.brightwork.com/blog/5-stages-of-the-agile-system-development-life-cycle</a:t>
            </a:r>
            <a:endParaRPr lang="en-GB" dirty="0"/>
          </a:p>
          <a:p>
            <a:r>
              <a:rPr lang="da-DK" dirty="0"/>
              <a:t>https://www.smartsheet.com/understanding-agile-software-development-lifecycle-and-process-workflow</a:t>
            </a:r>
            <a:endParaRPr lang="en-GB" dirty="0"/>
          </a:p>
          <a:p>
            <a:r>
              <a:rPr lang="da-DK" dirty="0"/>
              <a:t>https://selleo.com/blog/agile-software-development-process-everything-you-need-to-know</a:t>
            </a:r>
            <a:endParaRPr lang="en-GB" dirty="0"/>
          </a:p>
          <a:p>
            <a:r>
              <a:rPr lang="da-DK" dirty="0"/>
              <a:t>https://www.opentext.com/what-is/agile-development</a:t>
            </a:r>
            <a:endParaRPr lang="en-GB" dirty="0"/>
          </a:p>
          <a:p>
            <a:r>
              <a:rPr lang="da-DK" dirty="0"/>
              <a:t>https://www.wrike.com/agile-guide/agile-development-life-cycle/</a:t>
            </a:r>
            <a:endParaRPr lang="en-GB" dirty="0"/>
          </a:p>
          <a:p>
            <a:r>
              <a:rPr lang="da-DK" dirty="0"/>
              <a:t>https://asana.com/resources/agile-methodology</a:t>
            </a:r>
            <a:endParaRPr lang="en-GB" dirty="0"/>
          </a:p>
          <a:p>
            <a:r>
              <a:rPr lang="da-DK" dirty="0"/>
              <a:t>https://www.cio.com/article/237027/agile-project-management-a-beginners-guide.html</a:t>
            </a:r>
          </a:p>
        </p:txBody>
      </p:sp>
      <p:sp>
        <p:nvSpPr>
          <p:cNvPr id="4" name="Slide Number Placeholder 3"/>
          <p:cNvSpPr>
            <a:spLocks noGrp="1"/>
          </p:cNvSpPr>
          <p:nvPr>
            <p:ph type="sldNum" sz="quarter" idx="5"/>
          </p:nvPr>
        </p:nvSpPr>
        <p:spPr/>
        <p:txBody>
          <a:bodyPr/>
          <a:lstStyle/>
          <a:p>
            <a:fld id="{20E9132B-14EA-44E5-B7B5-A956B20A4E56}" type="slidenum">
              <a:rPr lang="da-DK" smtClean="0"/>
              <a:t>12</a:t>
            </a:fld>
            <a:endParaRPr lang="da-DK"/>
          </a:p>
        </p:txBody>
      </p:sp>
    </p:spTree>
    <p:extLst>
      <p:ext uri="{BB962C8B-B14F-4D97-AF65-F5344CB8AC3E}">
        <p14:creationId xmlns:p14="http://schemas.microsoft.com/office/powerpoint/2010/main" val="414396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20E9132B-14EA-44E5-B7B5-A956B20A4E56}" type="slidenum">
              <a:rPr lang="da-DK" smtClean="0"/>
              <a:t>14</a:t>
            </a:fld>
            <a:endParaRPr lang="da-DK"/>
          </a:p>
        </p:txBody>
      </p:sp>
    </p:spTree>
    <p:extLst>
      <p:ext uri="{BB962C8B-B14F-4D97-AF65-F5344CB8AC3E}">
        <p14:creationId xmlns:p14="http://schemas.microsoft.com/office/powerpoint/2010/main" val="1389897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https://softengbook.org/chapter2</a:t>
            </a:r>
          </a:p>
        </p:txBody>
      </p:sp>
      <p:sp>
        <p:nvSpPr>
          <p:cNvPr id="4" name="Slide Number Placeholder 3"/>
          <p:cNvSpPr>
            <a:spLocks noGrp="1"/>
          </p:cNvSpPr>
          <p:nvPr>
            <p:ph type="sldNum" sz="quarter" idx="5"/>
          </p:nvPr>
        </p:nvSpPr>
        <p:spPr/>
        <p:txBody>
          <a:bodyPr/>
          <a:lstStyle/>
          <a:p>
            <a:fld id="{20E9132B-14EA-44E5-B7B5-A956B20A4E56}" type="slidenum">
              <a:rPr lang="da-DK" smtClean="0"/>
              <a:t>16</a:t>
            </a:fld>
            <a:endParaRPr lang="da-DK"/>
          </a:p>
        </p:txBody>
      </p:sp>
    </p:spTree>
    <p:extLst>
      <p:ext uri="{BB962C8B-B14F-4D97-AF65-F5344CB8AC3E}">
        <p14:creationId xmlns:p14="http://schemas.microsoft.com/office/powerpoint/2010/main" val="2755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https://softengbook.org/chapter2</a:t>
            </a:r>
          </a:p>
        </p:txBody>
      </p:sp>
      <p:sp>
        <p:nvSpPr>
          <p:cNvPr id="4" name="Slide Number Placeholder 3"/>
          <p:cNvSpPr>
            <a:spLocks noGrp="1"/>
          </p:cNvSpPr>
          <p:nvPr>
            <p:ph type="sldNum" sz="quarter" idx="5"/>
          </p:nvPr>
        </p:nvSpPr>
        <p:spPr/>
        <p:txBody>
          <a:bodyPr/>
          <a:lstStyle/>
          <a:p>
            <a:fld id="{20E9132B-14EA-44E5-B7B5-A956B20A4E56}" type="slidenum">
              <a:rPr lang="da-DK" smtClean="0"/>
              <a:t>17</a:t>
            </a:fld>
            <a:endParaRPr lang="da-DK"/>
          </a:p>
        </p:txBody>
      </p:sp>
    </p:spTree>
    <p:extLst>
      <p:ext uri="{BB962C8B-B14F-4D97-AF65-F5344CB8AC3E}">
        <p14:creationId xmlns:p14="http://schemas.microsoft.com/office/powerpoint/2010/main" val="3294298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dirty="0"/>
              <a:t>Kan I </a:t>
            </a:r>
            <a:r>
              <a:rPr lang="en-US" dirty="0" err="1"/>
              <a:t>huske</a:t>
            </a:r>
            <a:r>
              <a:rPr lang="en-US" dirty="0"/>
              <a:t> det?</a:t>
            </a:r>
          </a:p>
        </p:txBody>
      </p:sp>
      <p:sp>
        <p:nvSpPr>
          <p:cNvPr id="4" name="Pladsholder til slidenummer 3"/>
          <p:cNvSpPr>
            <a:spLocks noGrp="1"/>
          </p:cNvSpPr>
          <p:nvPr>
            <p:ph type="sldNum" sz="quarter" idx="5"/>
          </p:nvPr>
        </p:nvSpPr>
        <p:spPr/>
        <p:txBody>
          <a:bodyPr/>
          <a:lstStyle/>
          <a:p>
            <a:fld id="{20E9132B-14EA-44E5-B7B5-A956B20A4E56}" type="slidenum">
              <a:rPr lang="da-DK" smtClean="0"/>
              <a:t>18</a:t>
            </a:fld>
            <a:endParaRPr lang="da-DK"/>
          </a:p>
        </p:txBody>
      </p:sp>
    </p:spTree>
    <p:extLst>
      <p:ext uri="{BB962C8B-B14F-4D97-AF65-F5344CB8AC3E}">
        <p14:creationId xmlns:p14="http://schemas.microsoft.com/office/powerpoint/2010/main" val="3131000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3C44"/>
                </a:solidFill>
                <a:effectLst/>
                <a:latin typeface="system-ui"/>
              </a:rPr>
              <a:t>Scrum (63% of responses), Kanban (36%), and Extreme Programming (16%)</a:t>
            </a:r>
            <a:endParaRPr lang="da-DK" dirty="0"/>
          </a:p>
        </p:txBody>
      </p:sp>
      <p:sp>
        <p:nvSpPr>
          <p:cNvPr id="4" name="Slide Number Placeholder 3"/>
          <p:cNvSpPr>
            <a:spLocks noGrp="1"/>
          </p:cNvSpPr>
          <p:nvPr>
            <p:ph type="sldNum" sz="quarter" idx="5"/>
          </p:nvPr>
        </p:nvSpPr>
        <p:spPr/>
        <p:txBody>
          <a:bodyPr/>
          <a:lstStyle/>
          <a:p>
            <a:fld id="{20E9132B-14EA-44E5-B7B5-A956B20A4E56}" type="slidenum">
              <a:rPr lang="da-DK" smtClean="0"/>
              <a:t>21</a:t>
            </a:fld>
            <a:endParaRPr lang="da-DK"/>
          </a:p>
        </p:txBody>
      </p:sp>
    </p:spTree>
    <p:extLst>
      <p:ext uri="{BB962C8B-B14F-4D97-AF65-F5344CB8AC3E}">
        <p14:creationId xmlns:p14="http://schemas.microsoft.com/office/powerpoint/2010/main" val="1932348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GB" b="0" i="0" dirty="0">
                <a:solidFill>
                  <a:srgbClr val="373C44"/>
                </a:solidFill>
                <a:effectLst/>
                <a:latin typeface="system-ui"/>
              </a:rPr>
              <a:t>Defining objectives and constraints, including costs, schedules, etc.</a:t>
            </a:r>
          </a:p>
          <a:p>
            <a:pPr algn="l">
              <a:buFont typeface="+mj-lt"/>
              <a:buAutoNum type="arabicPeriod"/>
            </a:pPr>
            <a:r>
              <a:rPr lang="en-GB" b="0" i="0" dirty="0">
                <a:solidFill>
                  <a:srgbClr val="373C44"/>
                </a:solidFill>
                <a:effectLst/>
                <a:latin typeface="system-ui"/>
              </a:rPr>
              <a:t>Evaluating alternatives and conducting risk analysis. For instance, considering whether it is more cost-effective to purchase a system instead of developing it in-house.</a:t>
            </a:r>
          </a:p>
          <a:p>
            <a:pPr algn="l">
              <a:buFont typeface="+mj-lt"/>
              <a:buAutoNum type="arabicPeriod"/>
            </a:pPr>
            <a:r>
              <a:rPr lang="en-GB" b="0" i="0" dirty="0">
                <a:solidFill>
                  <a:srgbClr val="373C44"/>
                </a:solidFill>
                <a:effectLst/>
                <a:latin typeface="system-ui"/>
              </a:rPr>
              <a:t>Development and testing, potentially using the Waterfall model. By the end of this stage, a prototype should be produced for demonstration to users.</a:t>
            </a:r>
          </a:p>
          <a:p>
            <a:pPr algn="l">
              <a:buFont typeface="+mj-lt"/>
              <a:buAutoNum type="arabicPeriod"/>
            </a:pPr>
            <a:r>
              <a:rPr lang="en-GB" b="0" i="0" dirty="0">
                <a:solidFill>
                  <a:srgbClr val="373C44"/>
                </a:solidFill>
                <a:effectLst/>
                <a:latin typeface="system-ui"/>
              </a:rPr>
              <a:t>Planning for the next iteration or deciding to conclude the project if the current implementation already meets the organization’s needs.</a:t>
            </a:r>
          </a:p>
          <a:p>
            <a:endParaRPr lang="da-DK" dirty="0"/>
          </a:p>
        </p:txBody>
      </p:sp>
      <p:sp>
        <p:nvSpPr>
          <p:cNvPr id="4" name="Slide Number Placeholder 3"/>
          <p:cNvSpPr>
            <a:spLocks noGrp="1"/>
          </p:cNvSpPr>
          <p:nvPr>
            <p:ph type="sldNum" sz="quarter" idx="5"/>
          </p:nvPr>
        </p:nvSpPr>
        <p:spPr/>
        <p:txBody>
          <a:bodyPr/>
          <a:lstStyle/>
          <a:p>
            <a:fld id="{20E9132B-14EA-44E5-B7B5-A956B20A4E56}" type="slidenum">
              <a:rPr lang="da-DK" smtClean="0"/>
              <a:t>22</a:t>
            </a:fld>
            <a:endParaRPr lang="da-DK"/>
          </a:p>
        </p:txBody>
      </p:sp>
    </p:spTree>
    <p:extLst>
      <p:ext uri="{BB962C8B-B14F-4D97-AF65-F5344CB8AC3E}">
        <p14:creationId xmlns:p14="http://schemas.microsoft.com/office/powerpoint/2010/main" val="949734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UML, overgang fra vandfald til scrum</a:t>
            </a:r>
          </a:p>
          <a:p>
            <a:r>
              <a:rPr lang="da-DK" dirty="0"/>
              <a:t>Stort rammeværk</a:t>
            </a:r>
          </a:p>
          <a:p>
            <a:r>
              <a:rPr lang="da-DK" dirty="0"/>
              <a:t>Firmaet rational – overtages af IBM i 2003</a:t>
            </a:r>
          </a:p>
          <a:p>
            <a:r>
              <a:rPr lang="da-DK" dirty="0"/>
              <a:t>Startet i 1990</a:t>
            </a:r>
          </a:p>
        </p:txBody>
      </p:sp>
      <p:sp>
        <p:nvSpPr>
          <p:cNvPr id="4" name="Slide Number Placeholder 3"/>
          <p:cNvSpPr>
            <a:spLocks noGrp="1"/>
          </p:cNvSpPr>
          <p:nvPr>
            <p:ph type="sldNum" sz="quarter" idx="5"/>
          </p:nvPr>
        </p:nvSpPr>
        <p:spPr/>
        <p:txBody>
          <a:bodyPr/>
          <a:lstStyle/>
          <a:p>
            <a:fld id="{20E9132B-14EA-44E5-B7B5-A956B20A4E56}" type="slidenum">
              <a:rPr lang="da-DK" smtClean="0"/>
              <a:t>23</a:t>
            </a:fld>
            <a:endParaRPr lang="da-DK"/>
          </a:p>
        </p:txBody>
      </p:sp>
    </p:spTree>
    <p:extLst>
      <p:ext uri="{BB962C8B-B14F-4D97-AF65-F5344CB8AC3E}">
        <p14:creationId xmlns:p14="http://schemas.microsoft.com/office/powerpoint/2010/main" val="3518632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TDD prevents developers from forgetting to write tests. This is because TDD promotes testing as the first activity of any programming task, whether fixing a bug or implementing a new feature. Thus, it becomes more difficult to postpone the writing of tests to a later stage. As we mentioned in Section 8.4, when using TDD, test coverage is usually greater than 90%.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TDD encourages writing code with high testability. This benefit is a natural consequence of the inverted workflow proposed by TDD: since developers first write the test T and then the class C, they are naturally inclined to design C to facilitate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TDD is not only a testing practice but also a design practice. This occurs because developers, by starting with the tests T, put themselves in the position of a user of the class C. In other words, with TDD, the first user of the class is its own developer—recall that T is a client of C, as it calls methods from C. Therefore, it is expected that developers will define a simple interface for the class, using readable method names and minimizing the number of parameters, among other best practices.</a:t>
            </a:r>
          </a:p>
          <a:p>
            <a:endParaRPr lang="da-DK" dirty="0"/>
          </a:p>
        </p:txBody>
      </p:sp>
      <p:sp>
        <p:nvSpPr>
          <p:cNvPr id="4" name="Slide Number Placeholder 3"/>
          <p:cNvSpPr>
            <a:spLocks noGrp="1"/>
          </p:cNvSpPr>
          <p:nvPr>
            <p:ph type="sldNum" sz="quarter" idx="5"/>
          </p:nvPr>
        </p:nvSpPr>
        <p:spPr/>
        <p:txBody>
          <a:bodyPr/>
          <a:lstStyle/>
          <a:p>
            <a:fld id="{20E9132B-14EA-44E5-B7B5-A956B20A4E56}" type="slidenum">
              <a:rPr lang="da-DK" smtClean="0"/>
              <a:t>27</a:t>
            </a:fld>
            <a:endParaRPr lang="da-DK"/>
          </a:p>
        </p:txBody>
      </p:sp>
    </p:spTree>
    <p:extLst>
      <p:ext uri="{BB962C8B-B14F-4D97-AF65-F5344CB8AC3E}">
        <p14:creationId xmlns:p14="http://schemas.microsoft.com/office/powerpoint/2010/main" val="3151555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Shopping card example</a:t>
            </a:r>
          </a:p>
          <a:p>
            <a:endParaRPr lang="da-DK" dirty="0"/>
          </a:p>
          <a:p>
            <a:r>
              <a:rPr lang="da-DK" dirty="0"/>
              <a:t>A??, Act, Asser</a:t>
            </a:r>
          </a:p>
        </p:txBody>
      </p:sp>
      <p:sp>
        <p:nvSpPr>
          <p:cNvPr id="4" name="Slide Number Placeholder 3"/>
          <p:cNvSpPr>
            <a:spLocks noGrp="1"/>
          </p:cNvSpPr>
          <p:nvPr>
            <p:ph type="sldNum" sz="quarter" idx="5"/>
          </p:nvPr>
        </p:nvSpPr>
        <p:spPr/>
        <p:txBody>
          <a:bodyPr/>
          <a:lstStyle/>
          <a:p>
            <a:fld id="{20E9132B-14EA-44E5-B7B5-A956B20A4E56}" type="slidenum">
              <a:rPr lang="da-DK" smtClean="0"/>
              <a:t>29</a:t>
            </a:fld>
            <a:endParaRPr lang="da-DK"/>
          </a:p>
        </p:txBody>
      </p:sp>
    </p:spTree>
    <p:extLst>
      <p:ext uri="{BB962C8B-B14F-4D97-AF65-F5344CB8AC3E}">
        <p14:creationId xmlns:p14="http://schemas.microsoft.com/office/powerpoint/2010/main" val="3941378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D6892-5419-7236-7462-30E950F543F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da-DK"/>
          </a:p>
        </p:txBody>
      </p:sp>
      <p:sp>
        <p:nvSpPr>
          <p:cNvPr id="3" name="Subtitle 2">
            <a:extLst>
              <a:ext uri="{FF2B5EF4-FFF2-40B4-BE49-F238E27FC236}">
                <a16:creationId xmlns:a16="http://schemas.microsoft.com/office/drawing/2014/main" id="{D9F53F32-701E-F23C-0907-47941B8CD6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da-DK"/>
          </a:p>
        </p:txBody>
      </p:sp>
      <p:sp>
        <p:nvSpPr>
          <p:cNvPr id="4" name="Date Placeholder 3">
            <a:extLst>
              <a:ext uri="{FF2B5EF4-FFF2-40B4-BE49-F238E27FC236}">
                <a16:creationId xmlns:a16="http://schemas.microsoft.com/office/drawing/2014/main" id="{08D52C3A-5A97-EE57-220B-50EC5669B103}"/>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D2E163B2-DA9C-6186-9B4D-449AF2E64D5C}"/>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8EDE0BE6-986D-07CA-A348-DDA7ABFD13BC}"/>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1423002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C557-4682-55C1-2057-405A567E697A}"/>
              </a:ext>
            </a:extLst>
          </p:cNvPr>
          <p:cNvSpPr>
            <a:spLocks noGrp="1"/>
          </p:cNvSpPr>
          <p:nvPr>
            <p:ph type="title"/>
          </p:nvPr>
        </p:nvSpPr>
        <p:spPr/>
        <p:txBody>
          <a:bodyPr/>
          <a:lstStyle/>
          <a:p>
            <a:r>
              <a:rPr lang="en-GB"/>
              <a:t>Click to edit Master title style</a:t>
            </a:r>
            <a:endParaRPr lang="da-DK"/>
          </a:p>
        </p:txBody>
      </p:sp>
      <p:sp>
        <p:nvSpPr>
          <p:cNvPr id="3" name="Content Placeholder 2">
            <a:extLst>
              <a:ext uri="{FF2B5EF4-FFF2-40B4-BE49-F238E27FC236}">
                <a16:creationId xmlns:a16="http://schemas.microsoft.com/office/drawing/2014/main" id="{EF4E024F-A579-F326-4021-135097F4911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Date Placeholder 3">
            <a:extLst>
              <a:ext uri="{FF2B5EF4-FFF2-40B4-BE49-F238E27FC236}">
                <a16:creationId xmlns:a16="http://schemas.microsoft.com/office/drawing/2014/main" id="{BF52ED08-FA2B-F59E-822F-16E04ADF1541}"/>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20C0BB46-ED07-42C8-71BD-82EFB8DC8B14}"/>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6729847D-8A65-A609-D332-EBC6B7173730}"/>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1170653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C9AF-2AFF-5A61-2DC7-944DB613CAD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da-DK"/>
          </a:p>
        </p:txBody>
      </p:sp>
      <p:sp>
        <p:nvSpPr>
          <p:cNvPr id="3" name="Text Placeholder 2">
            <a:extLst>
              <a:ext uri="{FF2B5EF4-FFF2-40B4-BE49-F238E27FC236}">
                <a16:creationId xmlns:a16="http://schemas.microsoft.com/office/drawing/2014/main" id="{E4BD148D-057D-0458-AA71-FACF8585D8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4298692-4B4C-B475-117C-90B145780C3E}"/>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4F8DB3F8-531E-99A4-E1C1-EF0C58FBE6CC}"/>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149845D0-FF68-EBE8-3E06-22F3272BD5CC}"/>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23739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44E58-5B91-C4E1-B6C1-986412471470}"/>
              </a:ext>
            </a:extLst>
          </p:cNvPr>
          <p:cNvSpPr>
            <a:spLocks noGrp="1"/>
          </p:cNvSpPr>
          <p:nvPr>
            <p:ph type="title"/>
          </p:nvPr>
        </p:nvSpPr>
        <p:spPr/>
        <p:txBody>
          <a:bodyPr/>
          <a:lstStyle/>
          <a:p>
            <a:r>
              <a:rPr lang="en-GB"/>
              <a:t>Click to edit Master title style</a:t>
            </a:r>
            <a:endParaRPr lang="da-DK"/>
          </a:p>
        </p:txBody>
      </p:sp>
      <p:sp>
        <p:nvSpPr>
          <p:cNvPr id="3" name="Content Placeholder 2">
            <a:extLst>
              <a:ext uri="{FF2B5EF4-FFF2-40B4-BE49-F238E27FC236}">
                <a16:creationId xmlns:a16="http://schemas.microsoft.com/office/drawing/2014/main" id="{95F5A57C-1AC5-B5B2-B9A2-9B83755FC74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Content Placeholder 3">
            <a:extLst>
              <a:ext uri="{FF2B5EF4-FFF2-40B4-BE49-F238E27FC236}">
                <a16:creationId xmlns:a16="http://schemas.microsoft.com/office/drawing/2014/main" id="{6239480A-E4BE-D853-346B-83E4943A63C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5" name="Date Placeholder 4">
            <a:extLst>
              <a:ext uri="{FF2B5EF4-FFF2-40B4-BE49-F238E27FC236}">
                <a16:creationId xmlns:a16="http://schemas.microsoft.com/office/drawing/2014/main" id="{AEF650A5-F84C-BDF2-1135-80AE2F7D369D}"/>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6" name="Footer Placeholder 5">
            <a:extLst>
              <a:ext uri="{FF2B5EF4-FFF2-40B4-BE49-F238E27FC236}">
                <a16:creationId xmlns:a16="http://schemas.microsoft.com/office/drawing/2014/main" id="{F417275C-10CE-3A4E-70BF-1EC281DF8D3D}"/>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7AFD7DB6-6E3B-46A2-D6BA-0E3A0693C5A8}"/>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309038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D79C-139F-565E-8172-31B491FE7DB2}"/>
              </a:ext>
            </a:extLst>
          </p:cNvPr>
          <p:cNvSpPr>
            <a:spLocks noGrp="1"/>
          </p:cNvSpPr>
          <p:nvPr>
            <p:ph type="title"/>
          </p:nvPr>
        </p:nvSpPr>
        <p:spPr>
          <a:xfrm>
            <a:off x="839788" y="365125"/>
            <a:ext cx="10515600" cy="1325563"/>
          </a:xfrm>
        </p:spPr>
        <p:txBody>
          <a:bodyPr/>
          <a:lstStyle/>
          <a:p>
            <a:r>
              <a:rPr lang="en-GB"/>
              <a:t>Click to edit Master title style</a:t>
            </a:r>
            <a:endParaRPr lang="da-DK"/>
          </a:p>
        </p:txBody>
      </p:sp>
      <p:sp>
        <p:nvSpPr>
          <p:cNvPr id="3" name="Text Placeholder 2">
            <a:extLst>
              <a:ext uri="{FF2B5EF4-FFF2-40B4-BE49-F238E27FC236}">
                <a16:creationId xmlns:a16="http://schemas.microsoft.com/office/drawing/2014/main" id="{002EB369-7871-30E1-0578-ED9324442F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38F322E-A733-793B-6391-89ECB6AF817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5" name="Text Placeholder 4">
            <a:extLst>
              <a:ext uri="{FF2B5EF4-FFF2-40B4-BE49-F238E27FC236}">
                <a16:creationId xmlns:a16="http://schemas.microsoft.com/office/drawing/2014/main" id="{10ED9AB7-D06C-C82A-F645-B8E35A4670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0C13FA-B9E1-A117-9013-434AC9E0A3A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7" name="Date Placeholder 6">
            <a:extLst>
              <a:ext uri="{FF2B5EF4-FFF2-40B4-BE49-F238E27FC236}">
                <a16:creationId xmlns:a16="http://schemas.microsoft.com/office/drawing/2014/main" id="{8CC2A099-427D-EE9E-71D1-ED67D310A2BB}"/>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8" name="Footer Placeholder 7">
            <a:extLst>
              <a:ext uri="{FF2B5EF4-FFF2-40B4-BE49-F238E27FC236}">
                <a16:creationId xmlns:a16="http://schemas.microsoft.com/office/drawing/2014/main" id="{BF4F4B14-B655-35D5-B58C-71B2163A5F1B}"/>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6C18F7A1-EACA-B4E6-9EA5-C14C4B0DAA58}"/>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3399046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5D75-6662-1ABC-6908-F47FB8091D36}"/>
              </a:ext>
            </a:extLst>
          </p:cNvPr>
          <p:cNvSpPr>
            <a:spLocks noGrp="1"/>
          </p:cNvSpPr>
          <p:nvPr>
            <p:ph type="title"/>
          </p:nvPr>
        </p:nvSpPr>
        <p:spPr/>
        <p:txBody>
          <a:bodyPr/>
          <a:lstStyle/>
          <a:p>
            <a:r>
              <a:rPr lang="en-GB"/>
              <a:t>Click to edit Master title style</a:t>
            </a:r>
            <a:endParaRPr lang="da-DK"/>
          </a:p>
        </p:txBody>
      </p:sp>
      <p:sp>
        <p:nvSpPr>
          <p:cNvPr id="3" name="Date Placeholder 2">
            <a:extLst>
              <a:ext uri="{FF2B5EF4-FFF2-40B4-BE49-F238E27FC236}">
                <a16:creationId xmlns:a16="http://schemas.microsoft.com/office/drawing/2014/main" id="{AA33CD6E-150A-0284-E000-8BD33DE71B84}"/>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4" name="Footer Placeholder 3">
            <a:extLst>
              <a:ext uri="{FF2B5EF4-FFF2-40B4-BE49-F238E27FC236}">
                <a16:creationId xmlns:a16="http://schemas.microsoft.com/office/drawing/2014/main" id="{57565A14-734A-918D-74DD-9870AFDF1265}"/>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F4F3B04C-CC69-6C43-2573-DCA1254D0609}"/>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406442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2A1D6A-B726-CA1F-B1D3-29329FE72958}"/>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3" name="Footer Placeholder 2">
            <a:extLst>
              <a:ext uri="{FF2B5EF4-FFF2-40B4-BE49-F238E27FC236}">
                <a16:creationId xmlns:a16="http://schemas.microsoft.com/office/drawing/2014/main" id="{C9B9045F-0CAC-68B5-F3FD-C28773028E8B}"/>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49954234-F3E8-74BC-C66D-8F4700FFE78C}"/>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4203218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96EF1-570C-A0C8-7EE0-5DA28E34481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a-DK"/>
          </a:p>
        </p:txBody>
      </p:sp>
      <p:sp>
        <p:nvSpPr>
          <p:cNvPr id="3" name="Content Placeholder 2">
            <a:extLst>
              <a:ext uri="{FF2B5EF4-FFF2-40B4-BE49-F238E27FC236}">
                <a16:creationId xmlns:a16="http://schemas.microsoft.com/office/drawing/2014/main" id="{CB6ED31D-07C8-01A8-CFA7-4C7EB6BD7C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Text Placeholder 3">
            <a:extLst>
              <a:ext uri="{FF2B5EF4-FFF2-40B4-BE49-F238E27FC236}">
                <a16:creationId xmlns:a16="http://schemas.microsoft.com/office/drawing/2014/main" id="{33DDA0A1-BC3E-9133-A083-B1523C513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5FCB0D-6367-7DFA-D20A-16FB4A8C670B}"/>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6" name="Footer Placeholder 5">
            <a:extLst>
              <a:ext uri="{FF2B5EF4-FFF2-40B4-BE49-F238E27FC236}">
                <a16:creationId xmlns:a16="http://schemas.microsoft.com/office/drawing/2014/main" id="{436755D1-F753-4C98-76AB-77BE2D7C3C1F}"/>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9B163033-8DFE-BDBE-5E68-9F8DB6F3EAB2}"/>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2195412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A36D3-3A20-0C59-ACE5-6E5905C000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a-DK"/>
          </a:p>
        </p:txBody>
      </p:sp>
      <p:sp>
        <p:nvSpPr>
          <p:cNvPr id="3" name="Picture Placeholder 2">
            <a:extLst>
              <a:ext uri="{FF2B5EF4-FFF2-40B4-BE49-F238E27FC236}">
                <a16:creationId xmlns:a16="http://schemas.microsoft.com/office/drawing/2014/main" id="{D6ABCFA0-B630-EEF7-1A9E-3EF7407A2D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850BC759-9584-C800-693C-739746A1B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F7E62B-0B43-ED92-9892-591C19D6476F}"/>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6" name="Footer Placeholder 5">
            <a:extLst>
              <a:ext uri="{FF2B5EF4-FFF2-40B4-BE49-F238E27FC236}">
                <a16:creationId xmlns:a16="http://schemas.microsoft.com/office/drawing/2014/main" id="{9FE39E06-4658-E2C2-EDB5-50921D530544}"/>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333B4018-6925-7E5D-6A31-A5DA5A9E3FB5}"/>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3579830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B4AB-187D-F89D-5FDA-E1322584F4EA}"/>
              </a:ext>
            </a:extLst>
          </p:cNvPr>
          <p:cNvSpPr>
            <a:spLocks noGrp="1"/>
          </p:cNvSpPr>
          <p:nvPr>
            <p:ph type="title"/>
          </p:nvPr>
        </p:nvSpPr>
        <p:spPr/>
        <p:txBody>
          <a:bodyPr/>
          <a:lstStyle/>
          <a:p>
            <a:r>
              <a:rPr lang="en-GB"/>
              <a:t>Click to edit Master title style</a:t>
            </a:r>
            <a:endParaRPr lang="da-DK"/>
          </a:p>
        </p:txBody>
      </p:sp>
      <p:sp>
        <p:nvSpPr>
          <p:cNvPr id="3" name="Vertical Text Placeholder 2">
            <a:extLst>
              <a:ext uri="{FF2B5EF4-FFF2-40B4-BE49-F238E27FC236}">
                <a16:creationId xmlns:a16="http://schemas.microsoft.com/office/drawing/2014/main" id="{F527BF5F-6DBC-6AD2-1B53-A9DB2B12A6B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Date Placeholder 3">
            <a:extLst>
              <a:ext uri="{FF2B5EF4-FFF2-40B4-BE49-F238E27FC236}">
                <a16:creationId xmlns:a16="http://schemas.microsoft.com/office/drawing/2014/main" id="{609D7818-2839-9C8E-B003-6CDF34A77F58}"/>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869472B5-27F8-1233-6C66-9AB97B734854}"/>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A1789F3A-972F-2495-2B26-6EA851FCC198}"/>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146611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FC43C-1AA6-51B2-D6D9-F839A44E2CA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da-DK"/>
          </a:p>
        </p:txBody>
      </p:sp>
      <p:sp>
        <p:nvSpPr>
          <p:cNvPr id="3" name="Vertical Text Placeholder 2">
            <a:extLst>
              <a:ext uri="{FF2B5EF4-FFF2-40B4-BE49-F238E27FC236}">
                <a16:creationId xmlns:a16="http://schemas.microsoft.com/office/drawing/2014/main" id="{2E60536E-1E48-0DBE-3E01-415F3E21127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Date Placeholder 3">
            <a:extLst>
              <a:ext uri="{FF2B5EF4-FFF2-40B4-BE49-F238E27FC236}">
                <a16:creationId xmlns:a16="http://schemas.microsoft.com/office/drawing/2014/main" id="{6E11EC79-48AE-B29E-AB6F-06880CD5DADA}"/>
              </a:ext>
            </a:extLst>
          </p:cNvPr>
          <p:cNvSpPr>
            <a:spLocks noGrp="1"/>
          </p:cNvSpPr>
          <p:nvPr>
            <p:ph type="dt" sz="half" idx="10"/>
          </p:nvPr>
        </p:nvSpPr>
        <p:spPr/>
        <p:txBody>
          <a:body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EC6FFE91-D889-D41E-6B5C-D96FCEFE8184}"/>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3BC7E27C-85AE-FE5B-8F6A-358F3661D5B0}"/>
              </a:ext>
            </a:extLst>
          </p:cNvPr>
          <p:cNvSpPr>
            <a:spLocks noGrp="1"/>
          </p:cNvSpPr>
          <p:nvPr>
            <p:ph type="sldNum" sz="quarter" idx="12"/>
          </p:nvPr>
        </p:nvSpPr>
        <p:spPr/>
        <p:txBody>
          <a:bodyPr/>
          <a:lstStyle/>
          <a:p>
            <a:fld id="{C2B9FBDA-AA1E-4DC6-9048-D0A627481A6D}" type="slidenum">
              <a:rPr lang="da-DK" smtClean="0"/>
              <a:t>‹#›</a:t>
            </a:fld>
            <a:endParaRPr lang="da-DK"/>
          </a:p>
        </p:txBody>
      </p:sp>
    </p:spTree>
    <p:extLst>
      <p:ext uri="{BB962C8B-B14F-4D97-AF65-F5344CB8AC3E}">
        <p14:creationId xmlns:p14="http://schemas.microsoft.com/office/powerpoint/2010/main" val="2026349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0E40D3-504A-FE20-FFDE-22BAA491A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da-DK"/>
          </a:p>
        </p:txBody>
      </p:sp>
      <p:sp>
        <p:nvSpPr>
          <p:cNvPr id="3" name="Text Placeholder 2">
            <a:extLst>
              <a:ext uri="{FF2B5EF4-FFF2-40B4-BE49-F238E27FC236}">
                <a16:creationId xmlns:a16="http://schemas.microsoft.com/office/drawing/2014/main" id="{89B63D18-D401-3CEA-75D5-9EF0732B52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a-DK"/>
          </a:p>
        </p:txBody>
      </p:sp>
      <p:sp>
        <p:nvSpPr>
          <p:cNvPr id="4" name="Date Placeholder 3">
            <a:extLst>
              <a:ext uri="{FF2B5EF4-FFF2-40B4-BE49-F238E27FC236}">
                <a16:creationId xmlns:a16="http://schemas.microsoft.com/office/drawing/2014/main" id="{F6EBB2BF-8E75-E1F0-4897-C5B8FBCFAC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44AC3C-A00B-4F27-8FDF-3B3B0FF601AF}" type="datetimeFigureOut">
              <a:rPr lang="da-DK" smtClean="0"/>
              <a:t>18-01-2026</a:t>
            </a:fld>
            <a:endParaRPr lang="da-DK"/>
          </a:p>
        </p:txBody>
      </p:sp>
      <p:sp>
        <p:nvSpPr>
          <p:cNvPr id="5" name="Footer Placeholder 4">
            <a:extLst>
              <a:ext uri="{FF2B5EF4-FFF2-40B4-BE49-F238E27FC236}">
                <a16:creationId xmlns:a16="http://schemas.microsoft.com/office/drawing/2014/main" id="{8EA8E2F4-6534-BE70-C603-10C5626EBB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E7B534F1-41BB-1000-95FF-73E3815E74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B9FBDA-AA1E-4DC6-9048-D0A627481A6D}" type="slidenum">
              <a:rPr lang="da-DK" smtClean="0"/>
              <a:t>‹#›</a:t>
            </a:fld>
            <a:endParaRPr lang="da-DK"/>
          </a:p>
        </p:txBody>
      </p:sp>
    </p:spTree>
    <p:extLst>
      <p:ext uri="{BB962C8B-B14F-4D97-AF65-F5344CB8AC3E}">
        <p14:creationId xmlns:p14="http://schemas.microsoft.com/office/powerpoint/2010/main" val="1163547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katalog.kea.dk/course/4111406/2023-202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A48D-F3EE-DDF2-A968-400AC108A49E}"/>
              </a:ext>
            </a:extLst>
          </p:cNvPr>
          <p:cNvSpPr>
            <a:spLocks noGrp="1"/>
          </p:cNvSpPr>
          <p:nvPr>
            <p:ph type="ctrTitle"/>
          </p:nvPr>
        </p:nvSpPr>
        <p:spPr/>
        <p:txBody>
          <a:bodyPr/>
          <a:lstStyle/>
          <a:p>
            <a:r>
              <a:rPr lang="da-DK" dirty="0"/>
              <a:t>Systemdesign</a:t>
            </a:r>
          </a:p>
        </p:txBody>
      </p:sp>
      <p:sp>
        <p:nvSpPr>
          <p:cNvPr id="3" name="Subtitle 2">
            <a:extLst>
              <a:ext uri="{FF2B5EF4-FFF2-40B4-BE49-F238E27FC236}">
                <a16:creationId xmlns:a16="http://schemas.microsoft.com/office/drawing/2014/main" id="{0D981358-175E-689B-52CF-BB0630190A37}"/>
              </a:ext>
            </a:extLst>
          </p:cNvPr>
          <p:cNvSpPr>
            <a:spLocks noGrp="1"/>
          </p:cNvSpPr>
          <p:nvPr>
            <p:ph type="subTitle" idx="1"/>
          </p:nvPr>
        </p:nvSpPr>
        <p:spPr/>
        <p:txBody>
          <a:bodyPr/>
          <a:lstStyle/>
          <a:p>
            <a:r>
              <a:rPr lang="da-DK" dirty="0"/>
              <a:t>Lektion 1</a:t>
            </a:r>
          </a:p>
        </p:txBody>
      </p:sp>
    </p:spTree>
    <p:extLst>
      <p:ext uri="{BB962C8B-B14F-4D97-AF65-F5344CB8AC3E}">
        <p14:creationId xmlns:p14="http://schemas.microsoft.com/office/powerpoint/2010/main" val="330677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9D0F-D2F6-4A64-3033-64492ECF458A}"/>
              </a:ext>
            </a:extLst>
          </p:cNvPr>
          <p:cNvSpPr>
            <a:spLocks noGrp="1"/>
          </p:cNvSpPr>
          <p:nvPr>
            <p:ph type="title"/>
          </p:nvPr>
        </p:nvSpPr>
        <p:spPr/>
        <p:txBody>
          <a:bodyPr/>
          <a:lstStyle/>
          <a:p>
            <a:r>
              <a:rPr lang="da-DK" dirty="0"/>
              <a:t>Agenda</a:t>
            </a:r>
          </a:p>
        </p:txBody>
      </p:sp>
      <p:sp>
        <p:nvSpPr>
          <p:cNvPr id="3" name="Content Placeholder 2">
            <a:extLst>
              <a:ext uri="{FF2B5EF4-FFF2-40B4-BE49-F238E27FC236}">
                <a16:creationId xmlns:a16="http://schemas.microsoft.com/office/drawing/2014/main" id="{B182ACC8-7750-8828-6437-02F7A79528B9}"/>
              </a:ext>
            </a:extLst>
          </p:cNvPr>
          <p:cNvSpPr>
            <a:spLocks noGrp="1"/>
          </p:cNvSpPr>
          <p:nvPr>
            <p:ph idx="1"/>
          </p:nvPr>
        </p:nvSpPr>
        <p:spPr/>
        <p:txBody>
          <a:bodyPr/>
          <a:lstStyle/>
          <a:p>
            <a:r>
              <a:rPr lang="da-DK" dirty="0"/>
              <a:t>Introduktion til Systemdesign kurset</a:t>
            </a:r>
          </a:p>
          <a:p>
            <a:r>
              <a:rPr lang="da-DK" dirty="0"/>
              <a:t>Recap af agil tilgang</a:t>
            </a:r>
          </a:p>
          <a:p>
            <a:r>
              <a:rPr lang="da-DK" dirty="0"/>
              <a:t>Systemudviklingsmodeller</a:t>
            </a:r>
          </a:p>
          <a:p>
            <a:r>
              <a:rPr lang="da-DK" dirty="0"/>
              <a:t>Opstart af eXtreme programming</a:t>
            </a:r>
          </a:p>
          <a:p>
            <a:r>
              <a:rPr lang="da-DK" dirty="0"/>
              <a:t>Til næste gang…</a:t>
            </a:r>
            <a:endParaRPr lang="en-US" dirty="0"/>
          </a:p>
          <a:p>
            <a:endParaRPr lang="da-DK" dirty="0"/>
          </a:p>
        </p:txBody>
      </p:sp>
    </p:spTree>
    <p:extLst>
      <p:ext uri="{BB962C8B-B14F-4D97-AF65-F5344CB8AC3E}">
        <p14:creationId xmlns:p14="http://schemas.microsoft.com/office/powerpoint/2010/main" val="420698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0CE3-EE97-A484-90978ED21045}"/>
              </a:ext>
            </a:extLst>
          </p:cNvPr>
          <p:cNvSpPr>
            <a:spLocks noGrp="1"/>
          </p:cNvSpPr>
          <p:nvPr>
            <p:ph type="title"/>
          </p:nvPr>
        </p:nvSpPr>
        <p:spPr/>
        <p:txBody>
          <a:bodyPr/>
          <a:lstStyle/>
          <a:p>
            <a:r>
              <a:rPr lang="da-DK" dirty="0"/>
              <a:t>Kursets struktur og emner</a:t>
            </a:r>
          </a:p>
        </p:txBody>
      </p:sp>
      <p:sp>
        <p:nvSpPr>
          <p:cNvPr id="3" name="Content Placeholder 2">
            <a:extLst>
              <a:ext uri="{FF2B5EF4-FFF2-40B4-BE49-F238E27FC236}">
                <a16:creationId xmlns:a16="http://schemas.microsoft.com/office/drawing/2014/main" id="{724D1ACB-143F-4F4E-E619-965C76C2FDB8}"/>
              </a:ext>
            </a:extLst>
          </p:cNvPr>
          <p:cNvSpPr>
            <a:spLocks noGrp="1"/>
          </p:cNvSpPr>
          <p:nvPr>
            <p:ph idx="1"/>
          </p:nvPr>
        </p:nvSpPr>
        <p:spPr/>
        <p:txBody>
          <a:bodyPr vert="horz" lIns="91440" tIns="45720" rIns="91440" bIns="45720" rtlCol="0">
            <a:normAutofit/>
          </a:bodyPr>
          <a:lstStyle/>
          <a:p>
            <a:r>
              <a:rPr lang="da-DK" dirty="0">
                <a:solidFill>
                  <a:srgbClr val="000000"/>
                </a:solidFill>
                <a:latin typeface="Calibri" panose="020F0502020204030204" pitchFamily="34" charset="0"/>
              </a:rPr>
              <a:t>Systemudviklingsmetoder</a:t>
            </a:r>
            <a:r>
              <a:rPr lang="en-US" dirty="0">
                <a:solidFill>
                  <a:srgbClr val="000000"/>
                </a:solidFill>
                <a:latin typeface="Calibri" panose="020F0502020204030204" pitchFamily="34" charset="0"/>
              </a:rPr>
              <a:t>​</a:t>
            </a:r>
          </a:p>
          <a:p>
            <a:r>
              <a:rPr lang="da-DK" dirty="0">
                <a:solidFill>
                  <a:srgbClr val="000000"/>
                </a:solidFill>
                <a:latin typeface="Calibri" panose="020F0502020204030204" pitchFamily="34" charset="0"/>
              </a:rPr>
              <a:t>Design og arkitektur</a:t>
            </a:r>
            <a:r>
              <a:rPr lang="en-US" dirty="0">
                <a:solidFill>
                  <a:srgbClr val="000000"/>
                </a:solidFill>
                <a:latin typeface="Calibri" panose="020F0502020204030204" pitchFamily="34" charset="0"/>
              </a:rPr>
              <a:t>​</a:t>
            </a:r>
          </a:p>
          <a:p>
            <a:r>
              <a:rPr lang="da-DK" dirty="0">
                <a:solidFill>
                  <a:srgbClr val="000000"/>
                </a:solidFill>
                <a:latin typeface="Calibri" panose="020F0502020204030204" pitchFamily="34" charset="0"/>
              </a:rPr>
              <a:t>Case med IT og økonomi</a:t>
            </a:r>
          </a:p>
          <a:p>
            <a:r>
              <a:rPr lang="da-DK" dirty="0">
                <a:solidFill>
                  <a:srgbClr val="000000"/>
                </a:solidFill>
                <a:latin typeface="Calibri" panose="020F0502020204030204" pitchFamily="34" charset="0"/>
              </a:rPr>
              <a:t>Projekt</a:t>
            </a:r>
            <a:endParaRPr lang="en-US" dirty="0">
              <a:solidFill>
                <a:srgbClr val="000000"/>
              </a:solidFill>
              <a:latin typeface="Calibri" panose="020F0502020204030204" pitchFamily="34" charset="0"/>
            </a:endParaRPr>
          </a:p>
          <a:p>
            <a:r>
              <a:rPr lang="da-DK" dirty="0">
                <a:solidFill>
                  <a:srgbClr val="000000"/>
                </a:solidFill>
                <a:latin typeface="Calibri" panose="020F0502020204030204" pitchFamily="34" charset="0"/>
              </a:rPr>
              <a:t>Eksamen</a:t>
            </a:r>
            <a:endParaRPr lang="en-US" dirty="0">
              <a:solidFill>
                <a:srgbClr val="000000"/>
              </a:solidFill>
              <a:latin typeface="Calibri" panose="020F0502020204030204" pitchFamily="34" charset="0"/>
            </a:endParaRPr>
          </a:p>
          <a:p>
            <a:endParaRPr lang="da-DK"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48099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311C-0355-4BC7-56CE-B85F7FD71B8C}"/>
              </a:ext>
            </a:extLst>
          </p:cNvPr>
          <p:cNvSpPr>
            <a:spLocks noGrp="1"/>
          </p:cNvSpPr>
          <p:nvPr>
            <p:ph type="title"/>
          </p:nvPr>
        </p:nvSpPr>
        <p:spPr/>
        <p:txBody>
          <a:bodyPr/>
          <a:lstStyle/>
          <a:p>
            <a:r>
              <a:rPr lang="en-GB" b="1" i="0" u="none" strike="noStrike" cap="all" dirty="0" err="1">
                <a:solidFill>
                  <a:srgbClr val="262626"/>
                </a:solidFill>
                <a:effectLst/>
                <a:latin typeface="Arial Narrow" panose="020B0606020202030204" pitchFamily="34" charset="0"/>
              </a:rPr>
              <a:t>Studieordning</a:t>
            </a:r>
            <a:r>
              <a:rPr lang="en-GB" b="1" i="0" u="none" strike="noStrike" cap="all" dirty="0">
                <a:solidFill>
                  <a:srgbClr val="262626"/>
                </a:solidFill>
                <a:effectLst/>
                <a:latin typeface="Arial Narrow" panose="020B0606020202030204" pitchFamily="34" charset="0"/>
              </a:rPr>
              <a:t> - </a:t>
            </a:r>
            <a:r>
              <a:rPr lang="en-GB" b="1" i="0" u="none" strike="noStrike" cap="all" dirty="0" err="1">
                <a:solidFill>
                  <a:srgbClr val="262626"/>
                </a:solidFill>
                <a:effectLst/>
                <a:latin typeface="Arial Narrow" panose="020B0606020202030204" pitchFamily="34" charset="0"/>
              </a:rPr>
              <a:t>læringsmål</a:t>
            </a:r>
            <a:endParaRPr lang="da-DK" dirty="0"/>
          </a:p>
        </p:txBody>
      </p:sp>
      <p:sp>
        <p:nvSpPr>
          <p:cNvPr id="3" name="Content Placeholder 2">
            <a:extLst>
              <a:ext uri="{FF2B5EF4-FFF2-40B4-BE49-F238E27FC236}">
                <a16:creationId xmlns:a16="http://schemas.microsoft.com/office/drawing/2014/main" id="{2453474D-90D3-928C-6768-B54D9355CF7F}"/>
              </a:ext>
            </a:extLst>
          </p:cNvPr>
          <p:cNvSpPr>
            <a:spLocks noGrp="1"/>
          </p:cNvSpPr>
          <p:nvPr>
            <p:ph idx="1"/>
          </p:nvPr>
        </p:nvSpPr>
        <p:spPr>
          <a:xfrm>
            <a:off x="838200" y="1429966"/>
            <a:ext cx="10515600" cy="5062909"/>
          </a:xfrm>
        </p:spPr>
        <p:txBody>
          <a:bodyPr vert="horz" lIns="91440" tIns="45720" rIns="91440" bIns="45720" rtlCol="0">
            <a:normAutofit fontScale="85000" lnSpcReduction="20000"/>
          </a:bodyPr>
          <a:lstStyle/>
          <a:p>
            <a:r>
              <a:rPr lang="da-DK" dirty="0">
                <a:solidFill>
                  <a:srgbClr val="000000"/>
                </a:solidFill>
                <a:latin typeface="Calibri" panose="020F0502020204030204" pitchFamily="34" charset="0"/>
              </a:rPr>
              <a:t>Viden</a:t>
            </a:r>
            <a:r>
              <a:rPr lang="en-US" dirty="0">
                <a:solidFill>
                  <a:srgbClr val="000000"/>
                </a:solidFill>
                <a:latin typeface="Calibri" panose="020F0502020204030204" pitchFamily="34" charset="0"/>
              </a:rPr>
              <a:t>​ - d</a:t>
            </a:r>
            <a:r>
              <a:rPr lang="da-DK" dirty="0">
                <a:solidFill>
                  <a:srgbClr val="000000"/>
                </a:solidFill>
                <a:latin typeface="Calibri" panose="020F0502020204030204" pitchFamily="34" charset="0"/>
              </a:rPr>
              <a:t>en studerende har:​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viden om kravindsamling og kravbeskrivelse.​</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viden om modeller til omformning af krav til løsningsarkitektur.​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viden om modelbaseret softwaredesign.​</a:t>
            </a:r>
          </a:p>
          <a:p>
            <a:r>
              <a:rPr lang="da-DK" dirty="0">
                <a:solidFill>
                  <a:srgbClr val="000000"/>
                </a:solidFill>
                <a:latin typeface="Calibri" panose="020F0502020204030204" pitchFamily="34" charset="0"/>
              </a:rPr>
              <a:t>Færdigheder​ - den studerende kan:​</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anvende metoder og modeller til udarbejdelse af en løsningsarkitektur.​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anvende standarder som en integreret del af en løsningsarkitektur.​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anvende arkitektur patterns som grundlag for en løsningsarkitektur.​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vurdere praksisnære og teoretiske problemstillinger inden for modelbaseret softwaredesign samt begrunde og vælge relevante løsningsmodeller.​</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formidle en løsningsarkitektur til relevante interessenter.​</a:t>
            </a:r>
          </a:p>
          <a:p>
            <a:r>
              <a:rPr lang="da-DK" dirty="0">
                <a:solidFill>
                  <a:srgbClr val="000000"/>
                </a:solidFill>
                <a:latin typeface="Calibri" panose="020F0502020204030204" pitchFamily="34" charset="0"/>
              </a:rPr>
              <a:t>Kompetencer​ - en studerende kan:​</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håndtere komplekse og udviklingssituationer med at analysere krav og metodisk og struktureret udarbejde en løsningsarkitektur baseret på standarder og arkitektur patterns.​</a:t>
            </a:r>
            <a:br>
              <a:rPr lang="da-DK" dirty="0">
                <a:solidFill>
                  <a:srgbClr val="000000"/>
                </a:solidFill>
                <a:latin typeface="Calibri" panose="020F0502020204030204" pitchFamily="34" charset="0"/>
              </a:rPr>
            </a:br>
            <a:r>
              <a:rPr lang="da-DK" dirty="0">
                <a:solidFill>
                  <a:srgbClr val="000000"/>
                </a:solidFill>
                <a:latin typeface="Calibri" panose="020F0502020204030204" pitchFamily="34" charset="0"/>
              </a:rPr>
              <a:t>• identificere egne læringsbehov og udvikle egen viden, færdigheder og kompetencer i relation til udarbejdelse af løsningsarkitekturer.​</a:t>
            </a:r>
          </a:p>
          <a:p>
            <a:r>
              <a:rPr lang="en-US" sz="1400" dirty="0">
                <a:solidFill>
                  <a:srgbClr val="000000"/>
                </a:solidFill>
                <a:latin typeface="Calibri" panose="020F0502020204030204" pitchFamily="34" charset="0"/>
              </a:rPr>
              <a:t>https://katalog.kea.dk/course/4111406/2023-2024</a:t>
            </a:r>
            <a:endParaRPr lang="da-DK" sz="1400" dirty="0">
              <a:solidFill>
                <a:srgbClr val="000000"/>
              </a:solidFill>
              <a:latin typeface="Calibri" panose="020F0502020204030204" pitchFamily="34" charset="0"/>
            </a:endParaRPr>
          </a:p>
          <a:p>
            <a:endParaRPr lang="da-DK"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57867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CEE77-0EF6-F567-B434-00B4AB64F6A7}"/>
              </a:ext>
            </a:extLst>
          </p:cNvPr>
          <p:cNvSpPr>
            <a:spLocks noGrp="1"/>
          </p:cNvSpPr>
          <p:nvPr>
            <p:ph type="title"/>
          </p:nvPr>
        </p:nvSpPr>
        <p:spPr/>
        <p:txBody>
          <a:bodyPr/>
          <a:lstStyle/>
          <a:p>
            <a:r>
              <a:rPr lang="da-DK" dirty="0"/>
              <a:t>Undervisningsform</a:t>
            </a:r>
          </a:p>
        </p:txBody>
      </p:sp>
      <p:sp>
        <p:nvSpPr>
          <p:cNvPr id="3" name="Content Placeholder 2">
            <a:extLst>
              <a:ext uri="{FF2B5EF4-FFF2-40B4-BE49-F238E27FC236}">
                <a16:creationId xmlns:a16="http://schemas.microsoft.com/office/drawing/2014/main" id="{1128F9E7-C502-C08B-427D-5793D59EAB16}"/>
              </a:ext>
            </a:extLst>
          </p:cNvPr>
          <p:cNvSpPr>
            <a:spLocks noGrp="1"/>
          </p:cNvSpPr>
          <p:nvPr>
            <p:ph idx="1"/>
          </p:nvPr>
        </p:nvSpPr>
        <p:spPr/>
        <p:txBody>
          <a:bodyPr/>
          <a:lstStyle/>
          <a:p>
            <a:r>
              <a:rPr lang="da-DK" b="0" i="0" u="none" strike="noStrike" dirty="0">
                <a:solidFill>
                  <a:srgbClr val="000000"/>
                </a:solidFill>
                <a:effectLst/>
                <a:latin typeface="Calibri" panose="020F0502020204030204" pitchFamily="34" charset="0"/>
              </a:rPr>
              <a:t>”Undervisning vil være en vekselvirkning mellem præsentation, øvelser og projektarbejde.” </a:t>
            </a:r>
            <a:r>
              <a:rPr lang="da-DK" sz="2000" b="0" i="0" u="none" strike="noStrike" dirty="0">
                <a:solidFill>
                  <a:srgbClr val="000000"/>
                </a:solidFill>
                <a:effectLst/>
                <a:latin typeface="Calibri" panose="020F0502020204030204" pitchFamily="34" charset="0"/>
              </a:rPr>
              <a:t>(</a:t>
            </a:r>
            <a:r>
              <a:rPr lang="da-DK" sz="2000" b="0" i="0" u="none" strike="noStrike" dirty="0">
                <a:solidFill>
                  <a:srgbClr val="000000"/>
                </a:solidFill>
                <a:effectLst/>
                <a:latin typeface="Calibri" panose="020F0502020204030204" pitchFamily="34" charset="0"/>
                <a:hlinkClick r:id="rId2"/>
              </a:rPr>
              <a:t>https://katalog.kea.dk/course/4111406/2023-2024</a:t>
            </a:r>
            <a:r>
              <a:rPr lang="da-DK" sz="2000" b="0" i="0" u="none" strike="noStrike" dirty="0">
                <a:solidFill>
                  <a:srgbClr val="000000"/>
                </a:solidFill>
                <a:effectLst/>
                <a:latin typeface="Calibri" panose="020F0502020204030204" pitchFamily="34" charset="0"/>
              </a:rPr>
              <a:t>)</a:t>
            </a:r>
          </a:p>
          <a:p>
            <a:endParaRPr lang="da-DK" sz="2000" dirty="0">
              <a:solidFill>
                <a:srgbClr val="000000"/>
              </a:solidFill>
              <a:latin typeface="Calibri" panose="020F0502020204030204" pitchFamily="34" charset="0"/>
            </a:endParaRPr>
          </a:p>
          <a:p>
            <a:r>
              <a:rPr lang="da-DK" dirty="0">
                <a:solidFill>
                  <a:srgbClr val="000000"/>
                </a:solidFill>
                <a:latin typeface="Calibri" panose="020F0502020204030204" pitchFamily="34" charset="0"/>
              </a:rPr>
              <a:t>I skal øve jer I selv at opsøge information, så I kommer i højere grad til at være opsøgende omkring nye emner.</a:t>
            </a:r>
          </a:p>
        </p:txBody>
      </p:sp>
    </p:spTree>
    <p:extLst>
      <p:ext uri="{BB962C8B-B14F-4D97-AF65-F5344CB8AC3E}">
        <p14:creationId xmlns:p14="http://schemas.microsoft.com/office/powerpoint/2010/main" val="276805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947E-8D9B-BD6E-5AD8-87E6464CE642}"/>
              </a:ext>
            </a:extLst>
          </p:cNvPr>
          <p:cNvSpPr>
            <a:spLocks noGrp="1"/>
          </p:cNvSpPr>
          <p:nvPr>
            <p:ph type="title"/>
          </p:nvPr>
        </p:nvSpPr>
        <p:spPr/>
        <p:txBody>
          <a:bodyPr/>
          <a:lstStyle/>
          <a:p>
            <a:r>
              <a:rPr lang="da-DK" dirty="0"/>
              <a:t>Eksamensform</a:t>
            </a:r>
          </a:p>
        </p:txBody>
      </p:sp>
      <p:sp>
        <p:nvSpPr>
          <p:cNvPr id="3" name="Content Placeholder 2">
            <a:extLst>
              <a:ext uri="{FF2B5EF4-FFF2-40B4-BE49-F238E27FC236}">
                <a16:creationId xmlns:a16="http://schemas.microsoft.com/office/drawing/2014/main" id="{866EA385-1838-2138-2F89-F89D25958920}"/>
              </a:ext>
            </a:extLst>
          </p:cNvPr>
          <p:cNvSpPr>
            <a:spLocks noGrp="1"/>
          </p:cNvSpPr>
          <p:nvPr>
            <p:ph idx="1"/>
          </p:nvPr>
        </p:nvSpPr>
        <p:spPr/>
        <p:txBody>
          <a:bodyPr/>
          <a:lstStyle/>
          <a:p>
            <a:r>
              <a:rPr lang="da-DK" dirty="0"/>
              <a:t>Fælles prøve med Projektstyring og Projektledelse</a:t>
            </a:r>
          </a:p>
          <a:p>
            <a:r>
              <a:rPr lang="da-DK" dirty="0"/>
              <a:t>30 min. ink. votering med </a:t>
            </a:r>
            <a:r>
              <a:rPr lang="da-DK" b="1" dirty="0"/>
              <a:t>kendte spørgsmål</a:t>
            </a:r>
          </a:p>
          <a:p>
            <a:endParaRPr lang="da-DK" dirty="0"/>
          </a:p>
          <a:p>
            <a:endParaRPr lang="da-DK" dirty="0"/>
          </a:p>
        </p:txBody>
      </p:sp>
    </p:spTree>
    <p:extLst>
      <p:ext uri="{BB962C8B-B14F-4D97-AF65-F5344CB8AC3E}">
        <p14:creationId xmlns:p14="http://schemas.microsoft.com/office/powerpoint/2010/main" val="479217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CA44-B641-B4E0-A6D1-F2F607513BFE}"/>
              </a:ext>
            </a:extLst>
          </p:cNvPr>
          <p:cNvSpPr>
            <a:spLocks noGrp="1"/>
          </p:cNvSpPr>
          <p:nvPr>
            <p:ph type="title"/>
          </p:nvPr>
        </p:nvSpPr>
        <p:spPr/>
        <p:txBody>
          <a:bodyPr/>
          <a:lstStyle/>
          <a:p>
            <a:r>
              <a:rPr lang="da-DK" dirty="0"/>
              <a:t>Projekter</a:t>
            </a:r>
          </a:p>
        </p:txBody>
      </p:sp>
      <p:sp>
        <p:nvSpPr>
          <p:cNvPr id="3" name="Content Placeholder 2">
            <a:extLst>
              <a:ext uri="{FF2B5EF4-FFF2-40B4-BE49-F238E27FC236}">
                <a16:creationId xmlns:a16="http://schemas.microsoft.com/office/drawing/2014/main" id="{78737E22-CC49-E20C-2CF3-1A39182CD5B8}"/>
              </a:ext>
            </a:extLst>
          </p:cNvPr>
          <p:cNvSpPr>
            <a:spLocks noGrp="1"/>
          </p:cNvSpPr>
          <p:nvPr>
            <p:ph idx="1"/>
          </p:nvPr>
        </p:nvSpPr>
        <p:spPr/>
        <p:txBody>
          <a:bodyPr/>
          <a:lstStyle/>
          <a:p>
            <a:r>
              <a:rPr lang="da-DK" dirty="0"/>
              <a:t>Fælles projekt med projektledelse og projektstyring</a:t>
            </a:r>
          </a:p>
          <a:p>
            <a:r>
              <a:rPr lang="da-DK" dirty="0"/>
              <a:t>Afsluttende projekt</a:t>
            </a:r>
          </a:p>
          <a:p>
            <a:pPr lvl="1"/>
            <a:r>
              <a:rPr lang="da-DK" dirty="0"/>
              <a:t>Det er IKKE et eksamensprojekt</a:t>
            </a:r>
          </a:p>
          <a:p>
            <a:r>
              <a:rPr lang="da-DK" dirty="0"/>
              <a:t>Review og feedback til IT og økonomistuderende</a:t>
            </a:r>
          </a:p>
        </p:txBody>
      </p:sp>
    </p:spTree>
    <p:extLst>
      <p:ext uri="{BB962C8B-B14F-4D97-AF65-F5344CB8AC3E}">
        <p14:creationId xmlns:p14="http://schemas.microsoft.com/office/powerpoint/2010/main" val="1636026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0B30-5A6D-A853-A700-28AC2BE61AE9}"/>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3AF3A43E-9FBF-3176-8F8D-8B8ABDC5B39A}"/>
              </a:ext>
            </a:extLst>
          </p:cNvPr>
          <p:cNvSpPr>
            <a:spLocks noGrp="1"/>
          </p:cNvSpPr>
          <p:nvPr>
            <p:ph idx="1"/>
          </p:nvPr>
        </p:nvSpPr>
        <p:spPr/>
        <p:txBody>
          <a:bodyPr/>
          <a:lstStyle/>
          <a:p>
            <a:endParaRPr lang="da-DK"/>
          </a:p>
        </p:txBody>
      </p:sp>
      <p:pic>
        <p:nvPicPr>
          <p:cNvPr id="7" name="Billede 6">
            <a:extLst>
              <a:ext uri="{FF2B5EF4-FFF2-40B4-BE49-F238E27FC236}">
                <a16:creationId xmlns:a16="http://schemas.microsoft.com/office/drawing/2014/main" id="{A5A044E9-1C14-22C8-DB11-8927D86D3167}"/>
              </a:ext>
            </a:extLst>
          </p:cNvPr>
          <p:cNvPicPr>
            <a:picLocks noChangeAspect="1"/>
          </p:cNvPicPr>
          <p:nvPr/>
        </p:nvPicPr>
        <p:blipFill>
          <a:blip r:embed="rId2"/>
          <a:stretch>
            <a:fillRect/>
          </a:stretch>
        </p:blipFill>
        <p:spPr>
          <a:xfrm>
            <a:off x="252248" y="568244"/>
            <a:ext cx="11540244" cy="5608719"/>
          </a:xfrm>
          <a:prstGeom prst="rect">
            <a:avLst/>
          </a:prstGeom>
        </p:spPr>
      </p:pic>
    </p:spTree>
    <p:extLst>
      <p:ext uri="{BB962C8B-B14F-4D97-AF65-F5344CB8AC3E}">
        <p14:creationId xmlns:p14="http://schemas.microsoft.com/office/powerpoint/2010/main" val="2854867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ED516-7086-79AB-F72F-378132104DCB}"/>
              </a:ext>
            </a:extLst>
          </p:cNvPr>
          <p:cNvSpPr>
            <a:spLocks noGrp="1"/>
          </p:cNvSpPr>
          <p:nvPr>
            <p:ph type="title"/>
          </p:nvPr>
        </p:nvSpPr>
        <p:spPr/>
        <p:txBody>
          <a:bodyPr/>
          <a:lstStyle/>
          <a:p>
            <a:r>
              <a:rPr lang="da-DK" dirty="0"/>
              <a:t>Recap af systemudviklingsmetoder</a:t>
            </a:r>
          </a:p>
        </p:txBody>
      </p:sp>
      <p:sp>
        <p:nvSpPr>
          <p:cNvPr id="3" name="Content Placeholder 2">
            <a:extLst>
              <a:ext uri="{FF2B5EF4-FFF2-40B4-BE49-F238E27FC236}">
                <a16:creationId xmlns:a16="http://schemas.microsoft.com/office/drawing/2014/main" id="{B25B1C55-C46C-7A84-73C1-F4786E2ADF47}"/>
              </a:ext>
            </a:extLst>
          </p:cNvPr>
          <p:cNvSpPr>
            <a:spLocks noGrp="1"/>
          </p:cNvSpPr>
          <p:nvPr>
            <p:ph idx="1"/>
          </p:nvPr>
        </p:nvSpPr>
        <p:spPr/>
        <p:txBody>
          <a:bodyPr/>
          <a:lstStyle/>
          <a:p>
            <a:endParaRPr lang="da-DK"/>
          </a:p>
        </p:txBody>
      </p:sp>
    </p:spTree>
    <p:extLst>
      <p:ext uri="{BB962C8B-B14F-4D97-AF65-F5344CB8AC3E}">
        <p14:creationId xmlns:p14="http://schemas.microsoft.com/office/powerpoint/2010/main" val="395133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2395E-7C55-3A91-99BF-AEE7D2330CB6}"/>
              </a:ext>
            </a:extLst>
          </p:cNvPr>
          <p:cNvSpPr>
            <a:spLocks noGrp="1"/>
          </p:cNvSpPr>
          <p:nvPr>
            <p:ph type="title"/>
          </p:nvPr>
        </p:nvSpPr>
        <p:spPr/>
        <p:txBody>
          <a:bodyPr/>
          <a:lstStyle/>
          <a:p>
            <a:r>
              <a:rPr lang="da-DK" dirty="0"/>
              <a:t>Metoder – vandfald – ”plan driven”</a:t>
            </a:r>
          </a:p>
        </p:txBody>
      </p:sp>
      <p:pic>
        <p:nvPicPr>
          <p:cNvPr id="5" name="Picture 4">
            <a:extLst>
              <a:ext uri="{FF2B5EF4-FFF2-40B4-BE49-F238E27FC236}">
                <a16:creationId xmlns:a16="http://schemas.microsoft.com/office/drawing/2014/main" id="{9DE56992-70B4-1804-CE3B-97AE189C3A95}"/>
              </a:ext>
            </a:extLst>
          </p:cNvPr>
          <p:cNvPicPr>
            <a:picLocks noChangeAspect="1"/>
          </p:cNvPicPr>
          <p:nvPr/>
        </p:nvPicPr>
        <p:blipFill>
          <a:blip r:embed="rId2"/>
          <a:stretch>
            <a:fillRect/>
          </a:stretch>
        </p:blipFill>
        <p:spPr>
          <a:xfrm>
            <a:off x="2664024" y="1690688"/>
            <a:ext cx="7207620" cy="4496031"/>
          </a:xfrm>
          <a:prstGeom prst="rect">
            <a:avLst/>
          </a:prstGeom>
        </p:spPr>
      </p:pic>
    </p:spTree>
    <p:extLst>
      <p:ext uri="{BB962C8B-B14F-4D97-AF65-F5344CB8AC3E}">
        <p14:creationId xmlns:p14="http://schemas.microsoft.com/office/powerpoint/2010/main" val="3237325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FAC-FCB3-14F9-D535-C62D11CE3118}"/>
              </a:ext>
            </a:extLst>
          </p:cNvPr>
          <p:cNvSpPr>
            <a:spLocks noGrp="1"/>
          </p:cNvSpPr>
          <p:nvPr>
            <p:ph type="title"/>
          </p:nvPr>
        </p:nvSpPr>
        <p:spPr/>
        <p:txBody>
          <a:bodyPr/>
          <a:lstStyle/>
          <a:p>
            <a:r>
              <a:rPr lang="da-DK" dirty="0"/>
              <a:t>Agile</a:t>
            </a:r>
          </a:p>
        </p:txBody>
      </p:sp>
      <p:sp>
        <p:nvSpPr>
          <p:cNvPr id="3" name="Content Placeholder 2">
            <a:extLst>
              <a:ext uri="{FF2B5EF4-FFF2-40B4-BE49-F238E27FC236}">
                <a16:creationId xmlns:a16="http://schemas.microsoft.com/office/drawing/2014/main" id="{674D7498-8A5D-99C0-A972-FFA2A4FFE23F}"/>
              </a:ext>
            </a:extLst>
          </p:cNvPr>
          <p:cNvSpPr>
            <a:spLocks noGrp="1"/>
          </p:cNvSpPr>
          <p:nvPr>
            <p:ph idx="1"/>
          </p:nvPr>
        </p:nvSpPr>
        <p:spPr/>
        <p:txBody>
          <a:bodyPr>
            <a:normAutofit/>
          </a:bodyPr>
          <a:lstStyle/>
          <a:p>
            <a:r>
              <a:rPr lang="da-DK" dirty="0"/>
              <a:t>”Opfundet” pga. ”overrun” i projekter</a:t>
            </a:r>
          </a:p>
          <a:p>
            <a:endParaRPr lang="da-DK" dirty="0"/>
          </a:p>
          <a:p>
            <a:r>
              <a:rPr lang="da-DK" dirty="0"/>
              <a:t>XP, Scrum, Kanban (SAFe)</a:t>
            </a:r>
          </a:p>
          <a:p>
            <a:endParaRPr lang="da-DK" dirty="0"/>
          </a:p>
          <a:p>
            <a:endParaRPr lang="da-DK" dirty="0"/>
          </a:p>
          <a:p>
            <a:r>
              <a:rPr lang="da-DK" dirty="0"/>
              <a:t>Målet/salgstalen er – hele tiden at give kunden/brugeren den størst mulige værdi</a:t>
            </a:r>
          </a:p>
        </p:txBody>
      </p:sp>
    </p:spTree>
    <p:extLst>
      <p:ext uri="{BB962C8B-B14F-4D97-AF65-F5344CB8AC3E}">
        <p14:creationId xmlns:p14="http://schemas.microsoft.com/office/powerpoint/2010/main" val="3841693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B118F-6714-70F4-1EF9-F793B8625BE0}"/>
              </a:ext>
            </a:extLst>
          </p:cNvPr>
          <p:cNvSpPr>
            <a:spLocks noGrp="1"/>
          </p:cNvSpPr>
          <p:nvPr>
            <p:ph type="title"/>
          </p:nvPr>
        </p:nvSpPr>
        <p:spPr/>
        <p:txBody>
          <a:bodyPr/>
          <a:lstStyle/>
          <a:p>
            <a:r>
              <a:rPr lang="da-DK" dirty="0"/>
              <a:t>Agile</a:t>
            </a:r>
          </a:p>
        </p:txBody>
      </p:sp>
      <p:sp>
        <p:nvSpPr>
          <p:cNvPr id="3" name="Content Placeholder 2">
            <a:extLst>
              <a:ext uri="{FF2B5EF4-FFF2-40B4-BE49-F238E27FC236}">
                <a16:creationId xmlns:a16="http://schemas.microsoft.com/office/drawing/2014/main" id="{11CD1825-609A-464D-810B-1FBE450147CC}"/>
              </a:ext>
            </a:extLst>
          </p:cNvPr>
          <p:cNvSpPr>
            <a:spLocks noGrp="1"/>
          </p:cNvSpPr>
          <p:nvPr>
            <p:ph idx="1"/>
          </p:nvPr>
        </p:nvSpPr>
        <p:spPr/>
        <p:txBody>
          <a:bodyPr>
            <a:normAutofit fontScale="62500" lnSpcReduction="20000"/>
          </a:bodyPr>
          <a:lstStyle/>
          <a:p>
            <a:r>
              <a:rPr lang="en-GB" b="1" dirty="0"/>
              <a:t>Iterative development</a:t>
            </a:r>
            <a:r>
              <a:rPr lang="en-GB" dirty="0"/>
              <a:t>: The process is broken down into short cycles called sprints or iterations, typically lasting 2-4 weeks.</a:t>
            </a:r>
          </a:p>
          <a:p>
            <a:r>
              <a:rPr lang="en-GB" b="1" dirty="0"/>
              <a:t>Continuous delivery</a:t>
            </a:r>
            <a:r>
              <a:rPr lang="en-GB" dirty="0"/>
              <a:t>: Working software is produced and delivered at the end of each iteration3.</a:t>
            </a:r>
          </a:p>
          <a:p>
            <a:r>
              <a:rPr lang="en-GB" b="1" dirty="0"/>
              <a:t>Customer collaboration</a:t>
            </a:r>
            <a:r>
              <a:rPr lang="en-GB" dirty="0"/>
              <a:t>: There is frequent interaction with customers or stakeholders to gather feedback and adjust requirements.</a:t>
            </a:r>
          </a:p>
          <a:p>
            <a:r>
              <a:rPr lang="en-GB" b="1" dirty="0"/>
              <a:t>Adaptability</a:t>
            </a:r>
            <a:r>
              <a:rPr lang="en-GB" dirty="0"/>
              <a:t>: The process embraces change and allows for quick pivots based on new information or evolving needs.</a:t>
            </a:r>
          </a:p>
          <a:p>
            <a:r>
              <a:rPr lang="en-GB" b="1" dirty="0"/>
              <a:t>Cross-functional teams</a:t>
            </a:r>
            <a:r>
              <a:rPr lang="en-GB" dirty="0"/>
              <a:t>: Development teams are self-organizing and include members with various skills needed to complete the project.</a:t>
            </a:r>
          </a:p>
          <a:p>
            <a:r>
              <a:rPr lang="en-GB" b="1" dirty="0"/>
              <a:t>Prioritization of features</a:t>
            </a:r>
            <a:r>
              <a:rPr lang="en-GB" dirty="0"/>
              <a:t>: The team focuses on delivering the most valuable features first, based on customer needs.</a:t>
            </a:r>
          </a:p>
          <a:p>
            <a:r>
              <a:rPr lang="en-GB" b="1" dirty="0"/>
              <a:t>Continuous improvement</a:t>
            </a:r>
            <a:r>
              <a:rPr lang="en-GB" dirty="0"/>
              <a:t>: The team regularly reflects on their process and makes adjustments to improve efficiency.</a:t>
            </a:r>
          </a:p>
          <a:p>
            <a:r>
              <a:rPr lang="en-GB" b="1" dirty="0"/>
              <a:t>Emphasis on working software</a:t>
            </a:r>
            <a:r>
              <a:rPr lang="en-GB" dirty="0"/>
              <a:t>: The primary measure of progress is functional software rather than comprehensive documentation.</a:t>
            </a:r>
            <a:endParaRPr lang="da-DK" dirty="0"/>
          </a:p>
        </p:txBody>
      </p:sp>
    </p:spTree>
    <p:extLst>
      <p:ext uri="{BB962C8B-B14F-4D97-AF65-F5344CB8AC3E}">
        <p14:creationId xmlns:p14="http://schemas.microsoft.com/office/powerpoint/2010/main" val="323203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5CC0E-3425-0A57-AD84-993E3734ECE7}"/>
              </a:ext>
            </a:extLst>
          </p:cNvPr>
          <p:cNvSpPr>
            <a:spLocks noGrp="1"/>
          </p:cNvSpPr>
          <p:nvPr>
            <p:ph type="title"/>
          </p:nvPr>
        </p:nvSpPr>
        <p:spPr/>
        <p:txBody>
          <a:bodyPr/>
          <a:lstStyle/>
          <a:p>
            <a:r>
              <a:rPr lang="da-DK" dirty="0"/>
              <a:t>Søger at løse...</a:t>
            </a:r>
          </a:p>
        </p:txBody>
      </p:sp>
      <p:sp>
        <p:nvSpPr>
          <p:cNvPr id="3" name="Content Placeholder 2">
            <a:extLst>
              <a:ext uri="{FF2B5EF4-FFF2-40B4-BE49-F238E27FC236}">
                <a16:creationId xmlns:a16="http://schemas.microsoft.com/office/drawing/2014/main" id="{A04544A0-D239-09B1-8075-AFB7088E2AFE}"/>
              </a:ext>
            </a:extLst>
          </p:cNvPr>
          <p:cNvSpPr>
            <a:spLocks noGrp="1"/>
          </p:cNvSpPr>
          <p:nvPr>
            <p:ph idx="1"/>
          </p:nvPr>
        </p:nvSpPr>
        <p:spPr/>
        <p:txBody>
          <a:bodyPr/>
          <a:lstStyle/>
          <a:p>
            <a:r>
              <a:rPr lang="da-DK" dirty="0"/>
              <a:t>Hurtige ændringer i krav</a:t>
            </a:r>
          </a:p>
          <a:p>
            <a:pPr lvl="1"/>
            <a:r>
              <a:rPr lang="da-DK" dirty="0"/>
              <a:t>Teknologi bliver forældet før det er klart</a:t>
            </a:r>
          </a:p>
          <a:p>
            <a:pPr lvl="1"/>
            <a:r>
              <a:rPr lang="da-DK" dirty="0"/>
              <a:t>Minimal valuable product-tankegang</a:t>
            </a:r>
          </a:p>
          <a:p>
            <a:pPr lvl="1"/>
            <a:r>
              <a:rPr lang="da-DK" dirty="0"/>
              <a:t>Løbende validering af kunder</a:t>
            </a:r>
          </a:p>
          <a:p>
            <a:r>
              <a:rPr lang="da-DK" dirty="0"/>
              <a:t>Dokumentation bliver ikke opdateret</a:t>
            </a:r>
          </a:p>
        </p:txBody>
      </p:sp>
      <p:pic>
        <p:nvPicPr>
          <p:cNvPr id="7" name="Picture 6">
            <a:extLst>
              <a:ext uri="{FF2B5EF4-FFF2-40B4-BE49-F238E27FC236}">
                <a16:creationId xmlns:a16="http://schemas.microsoft.com/office/drawing/2014/main" id="{8FB1E138-E58C-DBEB-E20E-C8283EA42233}"/>
              </a:ext>
            </a:extLst>
          </p:cNvPr>
          <p:cNvPicPr>
            <a:picLocks noChangeAspect="1"/>
          </p:cNvPicPr>
          <p:nvPr/>
        </p:nvPicPr>
        <p:blipFill>
          <a:blip r:embed="rId2"/>
          <a:stretch>
            <a:fillRect/>
          </a:stretch>
        </p:blipFill>
        <p:spPr>
          <a:xfrm>
            <a:off x="1667247" y="4181451"/>
            <a:ext cx="8503087" cy="933498"/>
          </a:xfrm>
          <a:prstGeom prst="rect">
            <a:avLst/>
          </a:prstGeom>
        </p:spPr>
      </p:pic>
      <p:pic>
        <p:nvPicPr>
          <p:cNvPr id="9" name="Picture 8">
            <a:extLst>
              <a:ext uri="{FF2B5EF4-FFF2-40B4-BE49-F238E27FC236}">
                <a16:creationId xmlns:a16="http://schemas.microsoft.com/office/drawing/2014/main" id="{281EE2C9-3E55-ECED-E19B-64D148CE0BB4}"/>
              </a:ext>
            </a:extLst>
          </p:cNvPr>
          <p:cNvPicPr>
            <a:picLocks noChangeAspect="1"/>
          </p:cNvPicPr>
          <p:nvPr/>
        </p:nvPicPr>
        <p:blipFill>
          <a:blip r:embed="rId3"/>
          <a:stretch>
            <a:fillRect/>
          </a:stretch>
        </p:blipFill>
        <p:spPr>
          <a:xfrm>
            <a:off x="1603297" y="5181342"/>
            <a:ext cx="8744399" cy="1428823"/>
          </a:xfrm>
          <a:prstGeom prst="rect">
            <a:avLst/>
          </a:prstGeom>
        </p:spPr>
      </p:pic>
    </p:spTree>
    <p:extLst>
      <p:ext uri="{BB962C8B-B14F-4D97-AF65-F5344CB8AC3E}">
        <p14:creationId xmlns:p14="http://schemas.microsoft.com/office/powerpoint/2010/main" val="809641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EF32-01D1-B2E5-4A56-0C7CC6F44586}"/>
              </a:ext>
            </a:extLst>
          </p:cNvPr>
          <p:cNvSpPr>
            <a:spLocks noGrp="1"/>
          </p:cNvSpPr>
          <p:nvPr>
            <p:ph type="title"/>
          </p:nvPr>
        </p:nvSpPr>
        <p:spPr/>
        <p:txBody>
          <a:bodyPr/>
          <a:lstStyle/>
          <a:p>
            <a:r>
              <a:rPr lang="en-GB" b="0" i="0" dirty="0">
                <a:solidFill>
                  <a:srgbClr val="373C44"/>
                </a:solidFill>
                <a:effectLst/>
                <a:latin typeface="system-ui"/>
              </a:rPr>
              <a:t>Agile Manifesto</a:t>
            </a:r>
            <a:endParaRPr lang="da-DK" dirty="0"/>
          </a:p>
        </p:txBody>
      </p:sp>
      <p:sp>
        <p:nvSpPr>
          <p:cNvPr id="3" name="Content Placeholder 2">
            <a:extLst>
              <a:ext uri="{FF2B5EF4-FFF2-40B4-BE49-F238E27FC236}">
                <a16:creationId xmlns:a16="http://schemas.microsoft.com/office/drawing/2014/main" id="{353AA10C-E450-FFC0-896B-2C38797BA11F}"/>
              </a:ext>
            </a:extLst>
          </p:cNvPr>
          <p:cNvSpPr>
            <a:spLocks noGrp="1"/>
          </p:cNvSpPr>
          <p:nvPr>
            <p:ph idx="1"/>
          </p:nvPr>
        </p:nvSpPr>
        <p:spPr>
          <a:xfrm>
            <a:off x="298152" y="6281024"/>
            <a:ext cx="3709252" cy="935986"/>
          </a:xfrm>
        </p:spPr>
        <p:txBody>
          <a:bodyPr>
            <a:normAutofit/>
          </a:bodyPr>
          <a:lstStyle/>
          <a:p>
            <a:pPr marL="0" indent="0">
              <a:buNone/>
            </a:pPr>
            <a:r>
              <a:rPr lang="da-DK" sz="2000" dirty="0"/>
              <a:t>https://agilemanifesto.org/</a:t>
            </a:r>
          </a:p>
        </p:txBody>
      </p:sp>
      <p:pic>
        <p:nvPicPr>
          <p:cNvPr id="5" name="Picture 4">
            <a:extLst>
              <a:ext uri="{FF2B5EF4-FFF2-40B4-BE49-F238E27FC236}">
                <a16:creationId xmlns:a16="http://schemas.microsoft.com/office/drawing/2014/main" id="{A883D15F-7222-714D-F91A-A7F313787DFB}"/>
              </a:ext>
            </a:extLst>
          </p:cNvPr>
          <p:cNvPicPr>
            <a:picLocks noChangeAspect="1"/>
          </p:cNvPicPr>
          <p:nvPr/>
        </p:nvPicPr>
        <p:blipFill>
          <a:blip r:embed="rId3"/>
          <a:stretch>
            <a:fillRect/>
          </a:stretch>
        </p:blipFill>
        <p:spPr>
          <a:xfrm>
            <a:off x="5009250" y="0"/>
            <a:ext cx="6641171" cy="6858000"/>
          </a:xfrm>
          <a:prstGeom prst="rect">
            <a:avLst/>
          </a:prstGeom>
        </p:spPr>
      </p:pic>
    </p:spTree>
    <p:extLst>
      <p:ext uri="{BB962C8B-B14F-4D97-AF65-F5344CB8AC3E}">
        <p14:creationId xmlns:p14="http://schemas.microsoft.com/office/powerpoint/2010/main" val="5165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4F3F-6C54-B801-3AF0-7768C486449E}"/>
              </a:ext>
            </a:extLst>
          </p:cNvPr>
          <p:cNvSpPr>
            <a:spLocks noGrp="1"/>
          </p:cNvSpPr>
          <p:nvPr>
            <p:ph type="title"/>
          </p:nvPr>
        </p:nvSpPr>
        <p:spPr/>
        <p:txBody>
          <a:bodyPr/>
          <a:lstStyle/>
          <a:p>
            <a:r>
              <a:rPr lang="da-DK" dirty="0"/>
              <a:t>Øvelse</a:t>
            </a:r>
          </a:p>
        </p:txBody>
      </p:sp>
      <p:sp>
        <p:nvSpPr>
          <p:cNvPr id="3" name="Content Placeholder 2">
            <a:extLst>
              <a:ext uri="{FF2B5EF4-FFF2-40B4-BE49-F238E27FC236}">
                <a16:creationId xmlns:a16="http://schemas.microsoft.com/office/drawing/2014/main" id="{891C2747-DDFE-2B24-8396-5588409FC055}"/>
              </a:ext>
            </a:extLst>
          </p:cNvPr>
          <p:cNvSpPr>
            <a:spLocks noGrp="1"/>
          </p:cNvSpPr>
          <p:nvPr>
            <p:ph idx="1"/>
          </p:nvPr>
        </p:nvSpPr>
        <p:spPr/>
        <p:txBody>
          <a:bodyPr/>
          <a:lstStyle/>
          <a:p>
            <a:r>
              <a:rPr lang="da-DK" dirty="0"/>
              <a:t>Overvej forskellen på den venstre og højre side i ”The agile </a:t>
            </a:r>
            <a:r>
              <a:rPr lang="da-DK" dirty="0" err="1"/>
              <a:t>manifesto</a:t>
            </a:r>
            <a:r>
              <a:rPr lang="da-DK" dirty="0"/>
              <a:t>”. Hvad betyder det for udvikling af software?</a:t>
            </a:r>
            <a:br>
              <a:rPr lang="da-DK" dirty="0"/>
            </a:br>
            <a:endParaRPr lang="da-DK" dirty="0"/>
          </a:p>
          <a:p>
            <a:r>
              <a:rPr lang="en-GB" b="1" dirty="0"/>
              <a:t>Individuals and interactions</a:t>
            </a:r>
            <a:r>
              <a:rPr lang="en-GB" dirty="0"/>
              <a:t> over </a:t>
            </a:r>
            <a:r>
              <a:rPr lang="en-GB" b="1" dirty="0"/>
              <a:t>processes and tools</a:t>
            </a:r>
          </a:p>
          <a:p>
            <a:r>
              <a:rPr lang="en-GB" b="1" dirty="0"/>
              <a:t>Working software</a:t>
            </a:r>
            <a:r>
              <a:rPr lang="en-GB" dirty="0"/>
              <a:t> over </a:t>
            </a:r>
            <a:r>
              <a:rPr lang="en-GB" b="1" dirty="0"/>
              <a:t>comprehensive documentation</a:t>
            </a:r>
          </a:p>
          <a:p>
            <a:r>
              <a:rPr lang="en-GB" b="1" dirty="0"/>
              <a:t>Customer collaboration</a:t>
            </a:r>
            <a:r>
              <a:rPr lang="en-GB" dirty="0"/>
              <a:t> over </a:t>
            </a:r>
            <a:r>
              <a:rPr lang="en-GB" b="1" dirty="0"/>
              <a:t>contract negotiation</a:t>
            </a:r>
          </a:p>
          <a:p>
            <a:r>
              <a:rPr lang="en-GB" b="1" dirty="0"/>
              <a:t>Responding to change</a:t>
            </a:r>
            <a:r>
              <a:rPr lang="en-GB" dirty="0"/>
              <a:t> over </a:t>
            </a:r>
            <a:r>
              <a:rPr lang="en-GB" b="1" dirty="0"/>
              <a:t>following a plan</a:t>
            </a:r>
            <a:endParaRPr lang="da-DK" b="1" dirty="0"/>
          </a:p>
        </p:txBody>
      </p:sp>
    </p:spTree>
    <p:extLst>
      <p:ext uri="{BB962C8B-B14F-4D97-AF65-F5344CB8AC3E}">
        <p14:creationId xmlns:p14="http://schemas.microsoft.com/office/powerpoint/2010/main" val="133710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8544-ABD4-CC5D-A9CE-C23874DA8EE4}"/>
              </a:ext>
            </a:extLst>
          </p:cNvPr>
          <p:cNvSpPr>
            <a:spLocks noGrp="1"/>
          </p:cNvSpPr>
          <p:nvPr>
            <p:ph type="title"/>
          </p:nvPr>
        </p:nvSpPr>
        <p:spPr/>
        <p:txBody>
          <a:bodyPr/>
          <a:lstStyle/>
          <a:p>
            <a:r>
              <a:rPr lang="da-DK" dirty="0"/>
              <a:t>Agilt fokus I</a:t>
            </a:r>
          </a:p>
        </p:txBody>
      </p:sp>
      <p:sp>
        <p:nvSpPr>
          <p:cNvPr id="3" name="Content Placeholder 2">
            <a:extLst>
              <a:ext uri="{FF2B5EF4-FFF2-40B4-BE49-F238E27FC236}">
                <a16:creationId xmlns:a16="http://schemas.microsoft.com/office/drawing/2014/main" id="{F4B6E8BA-3282-A51A-E9DA-668012DE91C4}"/>
              </a:ext>
            </a:extLst>
          </p:cNvPr>
          <p:cNvSpPr>
            <a:spLocks noGrp="1"/>
          </p:cNvSpPr>
          <p:nvPr>
            <p:ph idx="1"/>
          </p:nvPr>
        </p:nvSpPr>
        <p:spPr/>
        <p:txBody>
          <a:bodyPr/>
          <a:lstStyle/>
          <a:p>
            <a:r>
              <a:rPr lang="en-GB" b="1" i="0" dirty="0">
                <a:solidFill>
                  <a:srgbClr val="373C44"/>
                </a:solidFill>
                <a:effectLst/>
                <a:latin typeface="system-ui"/>
              </a:rPr>
              <a:t>Less emphasis on documentation</a:t>
            </a:r>
            <a:r>
              <a:rPr lang="en-GB" b="0" i="0" dirty="0">
                <a:solidFill>
                  <a:srgbClr val="373C44"/>
                </a:solidFill>
                <a:effectLst/>
                <a:latin typeface="system-ui"/>
              </a:rPr>
              <a:t>: Only essential information should be documented, focusing on what is necessary for understanding and maintaining the system.</a:t>
            </a:r>
          </a:p>
          <a:p>
            <a:r>
              <a:rPr lang="en-GB" b="1" i="0" dirty="0">
                <a:solidFill>
                  <a:srgbClr val="373C44"/>
                </a:solidFill>
                <a:effectLst/>
                <a:latin typeface="system-ui"/>
              </a:rPr>
              <a:t>Less emphasis on detailed plans</a:t>
            </a:r>
            <a:r>
              <a:rPr lang="en-GB" b="0" i="0" dirty="0">
                <a:solidFill>
                  <a:srgbClr val="373C44"/>
                </a:solidFill>
                <a:effectLst/>
                <a:latin typeface="system-ui"/>
              </a:rPr>
              <a:t>: At the start of a project, often neither the customer nor the developers have a clear understanding of all requirements that should be implemented. This understanding gradually unfolds as sprints are completed and their outcomes validated. In essence, the core principle of agile is to progress even when we have incomplete, partial, and changing requirements.</a:t>
            </a:r>
          </a:p>
          <a:p>
            <a:endParaRPr lang="da-DK" dirty="0"/>
          </a:p>
        </p:txBody>
      </p:sp>
    </p:spTree>
    <p:extLst>
      <p:ext uri="{BB962C8B-B14F-4D97-AF65-F5344CB8AC3E}">
        <p14:creationId xmlns:p14="http://schemas.microsoft.com/office/powerpoint/2010/main" val="2432230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B50F7-57FF-3FAC-837C-7C02133D6572}"/>
              </a:ext>
            </a:extLst>
          </p:cNvPr>
          <p:cNvSpPr>
            <a:spLocks noGrp="1"/>
          </p:cNvSpPr>
          <p:nvPr>
            <p:ph type="title"/>
          </p:nvPr>
        </p:nvSpPr>
        <p:spPr/>
        <p:txBody>
          <a:bodyPr/>
          <a:lstStyle/>
          <a:p>
            <a:r>
              <a:rPr lang="da-DK" dirty="0"/>
              <a:t>Agilt fokus II</a:t>
            </a:r>
          </a:p>
        </p:txBody>
      </p:sp>
      <p:sp>
        <p:nvSpPr>
          <p:cNvPr id="3" name="Content Placeholder 2">
            <a:extLst>
              <a:ext uri="{FF2B5EF4-FFF2-40B4-BE49-F238E27FC236}">
                <a16:creationId xmlns:a16="http://schemas.microsoft.com/office/drawing/2014/main" id="{0EC82558-0784-1FA6-C1D0-47734754711C}"/>
              </a:ext>
            </a:extLst>
          </p:cNvPr>
          <p:cNvSpPr>
            <a:spLocks noGrp="1"/>
          </p:cNvSpPr>
          <p:nvPr>
            <p:ph idx="1"/>
          </p:nvPr>
        </p:nvSpPr>
        <p:spPr/>
        <p:txBody>
          <a:bodyPr>
            <a:normAutofit lnSpcReduction="10000"/>
          </a:bodyPr>
          <a:lstStyle/>
          <a:p>
            <a:r>
              <a:rPr lang="en-GB" b="1" i="0" dirty="0">
                <a:solidFill>
                  <a:srgbClr val="373C44"/>
                </a:solidFill>
                <a:effectLst/>
                <a:latin typeface="system-ui"/>
              </a:rPr>
              <a:t>No dedicated design phase</a:t>
            </a:r>
            <a:r>
              <a:rPr lang="en-GB" b="0" i="0" dirty="0">
                <a:solidFill>
                  <a:srgbClr val="373C44"/>
                </a:solidFill>
                <a:effectLst/>
                <a:latin typeface="system-ui"/>
              </a:rPr>
              <a:t>, i.e., no Big Design Up Front (BDUF): The design of the software is also incremental, evolving with each iteration.</a:t>
            </a:r>
          </a:p>
          <a:p>
            <a:r>
              <a:rPr lang="en-GB" b="1" dirty="0"/>
              <a:t>Small teams</a:t>
            </a:r>
            <a:r>
              <a:rPr lang="en-GB" dirty="0"/>
              <a:t>: Teams typically consist of around 10-12 developers or, as Amazon CEO Jeff Bezos phrased it, teams that can be fed with two pizzas. This concept can also be compared to the size of sports teams, ranging from a basketball team (5 members) to a soccer team (11 members).</a:t>
            </a:r>
          </a:p>
          <a:p>
            <a:r>
              <a:rPr lang="en-GB" b="1" dirty="0"/>
              <a:t>Emphasis on innovative programming practices </a:t>
            </a:r>
            <a:r>
              <a:rPr lang="en-GB" dirty="0"/>
              <a:t>(as of the early 2000s), such as automated testing, refactoring, and continuous integration.</a:t>
            </a:r>
            <a:endParaRPr lang="da-DK" dirty="0"/>
          </a:p>
        </p:txBody>
      </p:sp>
    </p:spTree>
    <p:extLst>
      <p:ext uri="{BB962C8B-B14F-4D97-AF65-F5344CB8AC3E}">
        <p14:creationId xmlns:p14="http://schemas.microsoft.com/office/powerpoint/2010/main" val="727213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989A0E-61B4-4A16-213E-9841F0427E53}"/>
              </a:ext>
            </a:extLst>
          </p:cNvPr>
          <p:cNvSpPr>
            <a:spLocks noGrp="1"/>
          </p:cNvSpPr>
          <p:nvPr>
            <p:ph idx="1"/>
          </p:nvPr>
        </p:nvSpPr>
        <p:spPr/>
        <p:txBody>
          <a:bodyPr/>
          <a:lstStyle/>
          <a:p>
            <a:endParaRPr lang="da-DK"/>
          </a:p>
        </p:txBody>
      </p:sp>
      <p:pic>
        <p:nvPicPr>
          <p:cNvPr id="2050" name="Picture 2" descr="Et billede, der indeholder tekst, skærmbillede, design">
            <a:extLst>
              <a:ext uri="{FF2B5EF4-FFF2-40B4-BE49-F238E27FC236}">
                <a16:creationId xmlns:a16="http://schemas.microsoft.com/office/drawing/2014/main" id="{A9E4AEB8-F1F2-B74B-F9A6-5B4893D40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806" y="912627"/>
            <a:ext cx="9436394" cy="589774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4A39DF-2A25-4F02-669E-1678844736E8}"/>
              </a:ext>
            </a:extLst>
          </p:cNvPr>
          <p:cNvSpPr>
            <a:spLocks noGrp="1"/>
          </p:cNvSpPr>
          <p:nvPr>
            <p:ph type="title"/>
          </p:nvPr>
        </p:nvSpPr>
        <p:spPr>
          <a:xfrm>
            <a:off x="838200" y="238656"/>
            <a:ext cx="10515600" cy="1325563"/>
          </a:xfrm>
        </p:spPr>
        <p:txBody>
          <a:bodyPr/>
          <a:lstStyle/>
          <a:p>
            <a:r>
              <a:rPr lang="da-DK" dirty="0"/>
              <a:t>SCRUM</a:t>
            </a:r>
          </a:p>
        </p:txBody>
      </p:sp>
    </p:spTree>
    <p:extLst>
      <p:ext uri="{BB962C8B-B14F-4D97-AF65-F5344CB8AC3E}">
        <p14:creationId xmlns:p14="http://schemas.microsoft.com/office/powerpoint/2010/main" val="4153907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C849-710A-EF6B-C2E0-3C8376506823}"/>
              </a:ext>
            </a:extLst>
          </p:cNvPr>
          <p:cNvSpPr>
            <a:spLocks noGrp="1"/>
          </p:cNvSpPr>
          <p:nvPr>
            <p:ph type="title"/>
          </p:nvPr>
        </p:nvSpPr>
        <p:spPr>
          <a:xfrm>
            <a:off x="782968" y="18255"/>
            <a:ext cx="10515600" cy="1325563"/>
          </a:xfrm>
        </p:spPr>
        <p:txBody>
          <a:bodyPr/>
          <a:lstStyle/>
          <a:p>
            <a:r>
              <a:rPr lang="da-DK" dirty="0"/>
              <a:t>Kanban</a:t>
            </a:r>
          </a:p>
        </p:txBody>
      </p:sp>
      <p:sp>
        <p:nvSpPr>
          <p:cNvPr id="3" name="Content Placeholder 2">
            <a:extLst>
              <a:ext uri="{FF2B5EF4-FFF2-40B4-BE49-F238E27FC236}">
                <a16:creationId xmlns:a16="http://schemas.microsoft.com/office/drawing/2014/main" id="{A1492603-D835-195B-1FF6-7EDBAB01609F}"/>
              </a:ext>
            </a:extLst>
          </p:cNvPr>
          <p:cNvSpPr>
            <a:spLocks noGrp="1"/>
          </p:cNvSpPr>
          <p:nvPr>
            <p:ph idx="1"/>
          </p:nvPr>
        </p:nvSpPr>
        <p:spPr/>
        <p:txBody>
          <a:bodyPr/>
          <a:lstStyle/>
          <a:p>
            <a:endParaRPr lang="da-DK"/>
          </a:p>
        </p:txBody>
      </p:sp>
      <p:pic>
        <p:nvPicPr>
          <p:cNvPr id="3074" name="Picture 2" descr="undefined">
            <a:extLst>
              <a:ext uri="{FF2B5EF4-FFF2-40B4-BE49-F238E27FC236}">
                <a16:creationId xmlns:a16="http://schemas.microsoft.com/office/drawing/2014/main" id="{60B45C9B-2097-9343-DEEF-A14DC1641F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638" y="873358"/>
            <a:ext cx="10639361" cy="598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193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251D6-72AF-CBDE-A4B1-9B742F7D8630}"/>
              </a:ext>
            </a:extLst>
          </p:cNvPr>
          <p:cNvSpPr>
            <a:spLocks noGrp="1"/>
          </p:cNvSpPr>
          <p:nvPr>
            <p:ph type="title"/>
          </p:nvPr>
        </p:nvSpPr>
        <p:spPr/>
        <p:txBody>
          <a:bodyPr/>
          <a:lstStyle/>
          <a:p>
            <a:r>
              <a:rPr lang="da-DK" dirty="0"/>
              <a:t>Øvelse</a:t>
            </a:r>
          </a:p>
        </p:txBody>
      </p:sp>
      <p:sp>
        <p:nvSpPr>
          <p:cNvPr id="3" name="Content Placeholder 2">
            <a:extLst>
              <a:ext uri="{FF2B5EF4-FFF2-40B4-BE49-F238E27FC236}">
                <a16:creationId xmlns:a16="http://schemas.microsoft.com/office/drawing/2014/main" id="{8238E0CC-ED28-4F60-6410-93B03CF655CE}"/>
              </a:ext>
            </a:extLst>
          </p:cNvPr>
          <p:cNvSpPr>
            <a:spLocks noGrp="1"/>
          </p:cNvSpPr>
          <p:nvPr>
            <p:ph idx="1"/>
          </p:nvPr>
        </p:nvSpPr>
        <p:spPr/>
        <p:txBody>
          <a:bodyPr/>
          <a:lstStyle/>
          <a:p>
            <a:r>
              <a:rPr lang="da-DK" dirty="0"/>
              <a:t>Beskriv den grundlæggende forskel på Scrum og Kanban</a:t>
            </a:r>
          </a:p>
          <a:p>
            <a:endParaRPr lang="da-DK" dirty="0"/>
          </a:p>
        </p:txBody>
      </p:sp>
    </p:spTree>
    <p:extLst>
      <p:ext uri="{BB962C8B-B14F-4D97-AF65-F5344CB8AC3E}">
        <p14:creationId xmlns:p14="http://schemas.microsoft.com/office/powerpoint/2010/main" val="4120014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2944-C64B-EA6F-5171-CB3D9DCF6546}"/>
              </a:ext>
            </a:extLst>
          </p:cNvPr>
          <p:cNvSpPr>
            <a:spLocks noGrp="1"/>
          </p:cNvSpPr>
          <p:nvPr>
            <p:ph type="title"/>
          </p:nvPr>
        </p:nvSpPr>
        <p:spPr/>
        <p:txBody>
          <a:bodyPr/>
          <a:lstStyle/>
          <a:p>
            <a:r>
              <a:rPr lang="da-DK" dirty="0"/>
              <a:t>Systemudviklingsmodeller</a:t>
            </a:r>
          </a:p>
        </p:txBody>
      </p:sp>
      <p:sp>
        <p:nvSpPr>
          <p:cNvPr id="3" name="Content Placeholder 2">
            <a:extLst>
              <a:ext uri="{FF2B5EF4-FFF2-40B4-BE49-F238E27FC236}">
                <a16:creationId xmlns:a16="http://schemas.microsoft.com/office/drawing/2014/main" id="{33BD4CD3-7700-F434-F054-FEB096F5EADB}"/>
              </a:ext>
            </a:extLst>
          </p:cNvPr>
          <p:cNvSpPr>
            <a:spLocks noGrp="1"/>
          </p:cNvSpPr>
          <p:nvPr>
            <p:ph idx="1"/>
          </p:nvPr>
        </p:nvSpPr>
        <p:spPr/>
        <p:txBody>
          <a:bodyPr/>
          <a:lstStyle/>
          <a:p>
            <a:r>
              <a:rPr lang="da-DK" dirty="0"/>
              <a:t>Metoder er anbefalinger</a:t>
            </a:r>
          </a:p>
          <a:p>
            <a:r>
              <a:rPr lang="da-DK" dirty="0"/>
              <a:t>Organisationer er nødt til at tilpasse og reflektere over brugen af metoderne</a:t>
            </a:r>
          </a:p>
          <a:p>
            <a:endParaRPr lang="da-DK" dirty="0"/>
          </a:p>
          <a:p>
            <a:r>
              <a:rPr lang="en-GB" dirty="0"/>
              <a:t>XP, Scrum, and Kanban are examples of agile methods or, in other words, they define practices, activities, events, and techniques that align with agile principles.</a:t>
            </a:r>
            <a:endParaRPr lang="da-DK" dirty="0"/>
          </a:p>
        </p:txBody>
      </p:sp>
    </p:spTree>
    <p:extLst>
      <p:ext uri="{BB962C8B-B14F-4D97-AF65-F5344CB8AC3E}">
        <p14:creationId xmlns:p14="http://schemas.microsoft.com/office/powerpoint/2010/main" val="2286563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34A1-8778-F543-5983-1B34225B9040}"/>
              </a:ext>
            </a:extLst>
          </p:cNvPr>
          <p:cNvSpPr>
            <a:spLocks noGrp="1"/>
          </p:cNvSpPr>
          <p:nvPr>
            <p:ph type="title"/>
          </p:nvPr>
        </p:nvSpPr>
        <p:spPr/>
        <p:txBody>
          <a:bodyPr/>
          <a:lstStyle/>
          <a:p>
            <a:r>
              <a:rPr lang="da-DK" dirty="0"/>
              <a:t>Spiral model (fra 1986)</a:t>
            </a:r>
          </a:p>
        </p:txBody>
      </p:sp>
      <p:sp>
        <p:nvSpPr>
          <p:cNvPr id="3" name="Content Placeholder 2">
            <a:extLst>
              <a:ext uri="{FF2B5EF4-FFF2-40B4-BE49-F238E27FC236}">
                <a16:creationId xmlns:a16="http://schemas.microsoft.com/office/drawing/2014/main" id="{77489398-994F-2502-C677-96F034661F84}"/>
              </a:ext>
            </a:extLst>
          </p:cNvPr>
          <p:cNvSpPr>
            <a:spLocks noGrp="1"/>
          </p:cNvSpPr>
          <p:nvPr>
            <p:ph idx="1"/>
          </p:nvPr>
        </p:nvSpPr>
        <p:spPr>
          <a:xfrm>
            <a:off x="838200" y="1825624"/>
            <a:ext cx="4591493" cy="4001017"/>
          </a:xfrm>
        </p:spPr>
        <p:txBody>
          <a:bodyPr>
            <a:normAutofit fontScale="70000" lnSpcReduction="20000"/>
          </a:bodyPr>
          <a:lstStyle/>
          <a:p>
            <a:pPr algn="l">
              <a:buFont typeface="+mj-lt"/>
              <a:buAutoNum type="arabicPeriod"/>
            </a:pPr>
            <a:r>
              <a:rPr lang="en-GB" b="0" i="0" dirty="0">
                <a:solidFill>
                  <a:srgbClr val="373C44"/>
                </a:solidFill>
                <a:effectLst/>
                <a:latin typeface="system-ui"/>
              </a:rPr>
              <a:t>Defining objectives and constraints, including costs, schedules, etc.</a:t>
            </a:r>
          </a:p>
          <a:p>
            <a:pPr algn="l">
              <a:buFont typeface="+mj-lt"/>
              <a:buAutoNum type="arabicPeriod"/>
            </a:pPr>
            <a:r>
              <a:rPr lang="en-GB" b="0" i="0" dirty="0">
                <a:solidFill>
                  <a:srgbClr val="373C44"/>
                </a:solidFill>
                <a:effectLst/>
                <a:latin typeface="system-ui"/>
              </a:rPr>
              <a:t>Evaluating alternatives and conducting risk analysis. For instance, considering whether it is more cost-effective to purchase a system instead of developing it in-house.</a:t>
            </a:r>
          </a:p>
          <a:p>
            <a:pPr algn="l">
              <a:buFont typeface="+mj-lt"/>
              <a:buAutoNum type="arabicPeriod"/>
            </a:pPr>
            <a:r>
              <a:rPr lang="en-GB" b="0" i="0" dirty="0">
                <a:solidFill>
                  <a:srgbClr val="373C44"/>
                </a:solidFill>
                <a:effectLst/>
                <a:latin typeface="system-ui"/>
              </a:rPr>
              <a:t>Development and testing, potentially using the Waterfall model. By the end of this stage, a prototype should be produced for demonstration to users.</a:t>
            </a:r>
          </a:p>
          <a:p>
            <a:pPr algn="l">
              <a:buFont typeface="+mj-lt"/>
              <a:buAutoNum type="arabicPeriod"/>
            </a:pPr>
            <a:r>
              <a:rPr lang="en-GB" b="0" i="0" dirty="0">
                <a:solidFill>
                  <a:srgbClr val="373C44"/>
                </a:solidFill>
                <a:effectLst/>
                <a:latin typeface="system-ui"/>
              </a:rPr>
              <a:t>Planning for the next iteration or deciding to conclude the project if the current implementation already meets the organization’s needs.</a:t>
            </a:r>
          </a:p>
          <a:p>
            <a:endParaRPr lang="da-DK" dirty="0"/>
          </a:p>
        </p:txBody>
      </p:sp>
      <p:pic>
        <p:nvPicPr>
          <p:cNvPr id="7" name="Picture 6">
            <a:extLst>
              <a:ext uri="{FF2B5EF4-FFF2-40B4-BE49-F238E27FC236}">
                <a16:creationId xmlns:a16="http://schemas.microsoft.com/office/drawing/2014/main" id="{BE63A903-8D4B-163E-6038-588F25118324}"/>
              </a:ext>
            </a:extLst>
          </p:cNvPr>
          <p:cNvPicPr>
            <a:picLocks noChangeAspect="1"/>
          </p:cNvPicPr>
          <p:nvPr/>
        </p:nvPicPr>
        <p:blipFill>
          <a:blip r:embed="rId3"/>
          <a:stretch>
            <a:fillRect/>
          </a:stretch>
        </p:blipFill>
        <p:spPr>
          <a:xfrm>
            <a:off x="5669818" y="1598503"/>
            <a:ext cx="5473981" cy="4254719"/>
          </a:xfrm>
          <a:prstGeom prst="rect">
            <a:avLst/>
          </a:prstGeom>
        </p:spPr>
      </p:pic>
    </p:spTree>
    <p:extLst>
      <p:ext uri="{BB962C8B-B14F-4D97-AF65-F5344CB8AC3E}">
        <p14:creationId xmlns:p14="http://schemas.microsoft.com/office/powerpoint/2010/main" val="135162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0720A1-5897-98DF-B5AF-73965D90C7B3}"/>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B18D88FD-2199-04F3-EE13-4C6A8EBA02D8}"/>
              </a:ext>
            </a:extLst>
          </p:cNvPr>
          <p:cNvPicPr>
            <a:picLocks noChangeAspect="1"/>
          </p:cNvPicPr>
          <p:nvPr/>
        </p:nvPicPr>
        <p:blipFill>
          <a:blip r:embed="rId3"/>
          <a:stretch>
            <a:fillRect/>
          </a:stretch>
        </p:blipFill>
        <p:spPr>
          <a:xfrm>
            <a:off x="379230" y="907312"/>
            <a:ext cx="10699895" cy="5508120"/>
          </a:xfrm>
          <a:prstGeom prst="rect">
            <a:avLst/>
          </a:prstGeom>
        </p:spPr>
      </p:pic>
      <p:sp>
        <p:nvSpPr>
          <p:cNvPr id="2" name="Title 1">
            <a:extLst>
              <a:ext uri="{FF2B5EF4-FFF2-40B4-BE49-F238E27FC236}">
                <a16:creationId xmlns:a16="http://schemas.microsoft.com/office/drawing/2014/main" id="{08F4745D-AAA2-4D4E-F019-93BF225DC8A9}"/>
              </a:ext>
            </a:extLst>
          </p:cNvPr>
          <p:cNvSpPr>
            <a:spLocks noGrp="1"/>
          </p:cNvSpPr>
          <p:nvPr>
            <p:ph type="title"/>
          </p:nvPr>
        </p:nvSpPr>
        <p:spPr>
          <a:xfrm>
            <a:off x="691307" y="117031"/>
            <a:ext cx="10515600" cy="1325563"/>
          </a:xfrm>
        </p:spPr>
        <p:txBody>
          <a:bodyPr/>
          <a:lstStyle/>
          <a:p>
            <a:r>
              <a:rPr lang="da-DK" dirty="0"/>
              <a:t>Rational Unified Process</a:t>
            </a:r>
          </a:p>
        </p:txBody>
      </p:sp>
    </p:spTree>
    <p:extLst>
      <p:ext uri="{BB962C8B-B14F-4D97-AF65-F5344CB8AC3E}">
        <p14:creationId xmlns:p14="http://schemas.microsoft.com/office/powerpoint/2010/main" val="2796448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7084A-F58E-71CC-B388-ADE04E6107FE}"/>
              </a:ext>
            </a:extLst>
          </p:cNvPr>
          <p:cNvSpPr>
            <a:spLocks noGrp="1"/>
          </p:cNvSpPr>
          <p:nvPr>
            <p:ph type="title"/>
          </p:nvPr>
        </p:nvSpPr>
        <p:spPr/>
        <p:txBody>
          <a:bodyPr/>
          <a:lstStyle/>
          <a:p>
            <a:r>
              <a:rPr lang="da-DK" dirty="0" err="1"/>
              <a:t>eXtreme</a:t>
            </a:r>
            <a:r>
              <a:rPr lang="da-DK" dirty="0"/>
              <a:t> Programming</a:t>
            </a:r>
          </a:p>
        </p:txBody>
      </p:sp>
      <p:sp>
        <p:nvSpPr>
          <p:cNvPr id="3" name="Content Placeholder 2">
            <a:extLst>
              <a:ext uri="{FF2B5EF4-FFF2-40B4-BE49-F238E27FC236}">
                <a16:creationId xmlns:a16="http://schemas.microsoft.com/office/drawing/2014/main" id="{7582A318-20AA-279A-4580-258B1A4AA39D}"/>
              </a:ext>
            </a:extLst>
          </p:cNvPr>
          <p:cNvSpPr>
            <a:spLocks noGrp="1"/>
          </p:cNvSpPr>
          <p:nvPr>
            <p:ph idx="1"/>
          </p:nvPr>
        </p:nvSpPr>
        <p:spPr/>
        <p:txBody>
          <a:bodyPr/>
          <a:lstStyle/>
          <a:p>
            <a:r>
              <a:rPr lang="da-DK" dirty="0"/>
              <a:t>Agil tilgang på linje med Scrum og Kanban</a:t>
            </a:r>
          </a:p>
          <a:p>
            <a:endParaRPr lang="da-DK" dirty="0"/>
          </a:p>
          <a:p>
            <a:r>
              <a:rPr lang="da-DK" dirty="0"/>
              <a:t>Består af</a:t>
            </a:r>
          </a:p>
          <a:p>
            <a:pPr lvl="1"/>
            <a:r>
              <a:rPr lang="da-DK" dirty="0"/>
              <a:t>Values (værdisæt/normer)</a:t>
            </a:r>
          </a:p>
          <a:p>
            <a:pPr lvl="1"/>
            <a:r>
              <a:rPr lang="da-DK" dirty="0"/>
              <a:t>Principper</a:t>
            </a:r>
          </a:p>
          <a:p>
            <a:pPr lvl="1"/>
            <a:r>
              <a:rPr lang="da-DK" dirty="0"/>
              <a:t>Praksis</a:t>
            </a:r>
          </a:p>
          <a:p>
            <a:pPr lvl="1"/>
            <a:endParaRPr lang="da-DK" dirty="0"/>
          </a:p>
          <a:p>
            <a:r>
              <a:rPr lang="da-DK" dirty="0"/>
              <a:t>Vi kigger på en specifik praksis i dag, test driven development</a:t>
            </a:r>
          </a:p>
          <a:p>
            <a:endParaRPr lang="da-DK" dirty="0"/>
          </a:p>
        </p:txBody>
      </p:sp>
    </p:spTree>
    <p:extLst>
      <p:ext uri="{BB962C8B-B14F-4D97-AF65-F5344CB8AC3E}">
        <p14:creationId xmlns:p14="http://schemas.microsoft.com/office/powerpoint/2010/main" val="3330193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EA484-797D-962D-B5FB-A1E9AE31B819}"/>
              </a:ext>
            </a:extLst>
          </p:cNvPr>
          <p:cNvSpPr>
            <a:spLocks noGrp="1"/>
          </p:cNvSpPr>
          <p:nvPr>
            <p:ph type="title"/>
          </p:nvPr>
        </p:nvSpPr>
        <p:spPr/>
        <p:txBody>
          <a:bodyPr/>
          <a:lstStyle/>
          <a:p>
            <a:r>
              <a:rPr lang="da-DK" dirty="0"/>
              <a:t>Test Driven Development</a:t>
            </a:r>
          </a:p>
        </p:txBody>
      </p:sp>
      <p:pic>
        <p:nvPicPr>
          <p:cNvPr id="4" name="Picture 2" descr="Se kildebilledet">
            <a:extLst>
              <a:ext uri="{FF2B5EF4-FFF2-40B4-BE49-F238E27FC236}">
                <a16:creationId xmlns:a16="http://schemas.microsoft.com/office/drawing/2014/main" id="{44C67A24-3169-07F6-1411-3FE9862FB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5846" y="2049877"/>
            <a:ext cx="5422136" cy="360063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381ADF2-750C-AADE-5652-185BCB1D628E}"/>
              </a:ext>
            </a:extLst>
          </p:cNvPr>
          <p:cNvSpPr>
            <a:spLocks noGrp="1"/>
          </p:cNvSpPr>
          <p:nvPr>
            <p:ph idx="1"/>
          </p:nvPr>
        </p:nvSpPr>
        <p:spPr>
          <a:xfrm>
            <a:off x="838200" y="1825625"/>
            <a:ext cx="6094228" cy="4351338"/>
          </a:xfrm>
        </p:spPr>
        <p:txBody>
          <a:bodyPr>
            <a:normAutofit/>
          </a:bodyPr>
          <a:lstStyle/>
          <a:p>
            <a:r>
              <a:rPr lang="da-DK" dirty="0"/>
              <a:t>”Test First Development” - Skriv testen før koden</a:t>
            </a:r>
            <a:br>
              <a:rPr lang="da-DK" dirty="0"/>
            </a:br>
            <a:endParaRPr lang="da-DK" dirty="0"/>
          </a:p>
          <a:p>
            <a:r>
              <a:rPr lang="en-US" dirty="0"/>
              <a:t>We start with a failing test.</a:t>
            </a:r>
          </a:p>
          <a:p>
            <a:r>
              <a:rPr lang="en-US" dirty="0"/>
              <a:t>We create the production code on the fly, while building our test.</a:t>
            </a:r>
          </a:p>
          <a:p>
            <a:r>
              <a:rPr lang="en-US" dirty="0"/>
              <a:t>We’re done when the test(s) pass.</a:t>
            </a:r>
          </a:p>
          <a:p>
            <a:r>
              <a:rPr lang="en-US" dirty="0"/>
              <a:t>Now we refactor, to optimize the test structure and data.</a:t>
            </a:r>
          </a:p>
          <a:p>
            <a:endParaRPr lang="da-DK" dirty="0"/>
          </a:p>
        </p:txBody>
      </p:sp>
    </p:spTree>
    <p:extLst>
      <p:ext uri="{BB962C8B-B14F-4D97-AF65-F5344CB8AC3E}">
        <p14:creationId xmlns:p14="http://schemas.microsoft.com/office/powerpoint/2010/main" val="1629480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0FBA1-7132-DF68-6A0B-DD8AAB1E432D}"/>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55A9C306-FEED-9BD0-61B1-F36B28B2681F}"/>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6276AD81-B1B2-13E9-9B76-3C972BE66544}"/>
              </a:ext>
            </a:extLst>
          </p:cNvPr>
          <p:cNvPicPr>
            <a:picLocks noChangeAspect="1"/>
          </p:cNvPicPr>
          <p:nvPr/>
        </p:nvPicPr>
        <p:blipFill>
          <a:blip r:embed="rId2"/>
          <a:stretch>
            <a:fillRect/>
          </a:stretch>
        </p:blipFill>
        <p:spPr>
          <a:xfrm>
            <a:off x="2149272" y="1644558"/>
            <a:ext cx="7893456" cy="3568883"/>
          </a:xfrm>
          <a:prstGeom prst="rect">
            <a:avLst/>
          </a:prstGeom>
        </p:spPr>
      </p:pic>
    </p:spTree>
    <p:extLst>
      <p:ext uri="{BB962C8B-B14F-4D97-AF65-F5344CB8AC3E}">
        <p14:creationId xmlns:p14="http://schemas.microsoft.com/office/powerpoint/2010/main" val="1262354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8B5A7-991D-3A75-9D40-DF1C7CFE14B1}"/>
              </a:ext>
            </a:extLst>
          </p:cNvPr>
          <p:cNvSpPr>
            <a:spLocks noGrp="1"/>
          </p:cNvSpPr>
          <p:nvPr>
            <p:ph type="title"/>
          </p:nvPr>
        </p:nvSpPr>
        <p:spPr/>
        <p:txBody>
          <a:bodyPr/>
          <a:lstStyle/>
          <a:p>
            <a:r>
              <a:rPr lang="da-DK" dirty="0"/>
              <a:t>Hvorfor TDD?</a:t>
            </a:r>
          </a:p>
        </p:txBody>
      </p:sp>
      <p:sp>
        <p:nvSpPr>
          <p:cNvPr id="3" name="Content Placeholder 2">
            <a:extLst>
              <a:ext uri="{FF2B5EF4-FFF2-40B4-BE49-F238E27FC236}">
                <a16:creationId xmlns:a16="http://schemas.microsoft.com/office/drawing/2014/main" id="{C52D905B-9971-DDAC-6686-9CD34442F302}"/>
              </a:ext>
            </a:extLst>
          </p:cNvPr>
          <p:cNvSpPr>
            <a:spLocks noGrp="1"/>
          </p:cNvSpPr>
          <p:nvPr>
            <p:ph idx="1"/>
          </p:nvPr>
        </p:nvSpPr>
        <p:spPr/>
        <p:txBody>
          <a:bodyPr>
            <a:normAutofit fontScale="92500" lnSpcReduction="20000"/>
          </a:bodyPr>
          <a:lstStyle/>
          <a:p>
            <a:r>
              <a:rPr lang="en-GB" dirty="0"/>
              <a:t>TDD prevents developers from forgetting to write tests. </a:t>
            </a:r>
          </a:p>
          <a:p>
            <a:pPr lvl="1"/>
            <a:r>
              <a:rPr lang="en-GB" dirty="0"/>
              <a:t>Prevent developers to forget tests</a:t>
            </a:r>
          </a:p>
          <a:p>
            <a:pPr lvl="1"/>
            <a:r>
              <a:rPr lang="en-GB" dirty="0"/>
              <a:t>Gives higher test coverage</a:t>
            </a:r>
          </a:p>
          <a:p>
            <a:r>
              <a:rPr lang="en-GB" dirty="0"/>
              <a:t>TDD encourages writing code with high testability. </a:t>
            </a:r>
          </a:p>
          <a:p>
            <a:pPr lvl="1"/>
            <a:r>
              <a:rPr lang="en-GB" dirty="0"/>
              <a:t>Since developers first write the test T and then the class C, they are naturally inclined to design C to facilitate testing.</a:t>
            </a:r>
          </a:p>
          <a:p>
            <a:r>
              <a:rPr lang="en-GB" dirty="0"/>
              <a:t>TDD is not only a testing practice but also a design practice. </a:t>
            </a:r>
          </a:p>
          <a:p>
            <a:pPr lvl="1"/>
            <a:r>
              <a:rPr lang="en-GB" dirty="0"/>
              <a:t>This occurs because developers, by starting with the tests T, put themselves in the position of a user of the class C. </a:t>
            </a:r>
          </a:p>
          <a:p>
            <a:pPr lvl="1"/>
            <a:r>
              <a:rPr lang="en-GB" dirty="0"/>
              <a:t>In other words, with TDD, the first user of the class is its own developer—recall that T is a client of C, as it calls methods from C. </a:t>
            </a:r>
          </a:p>
          <a:p>
            <a:pPr lvl="1"/>
            <a:r>
              <a:rPr lang="en-GB" dirty="0"/>
              <a:t>Therefore, it is expected that developers will define a simple interface for the class, using readable method names and minimizing the number of parameters, among other best practices.</a:t>
            </a:r>
            <a:endParaRPr lang="da-DK" dirty="0"/>
          </a:p>
        </p:txBody>
      </p:sp>
    </p:spTree>
    <p:extLst>
      <p:ext uri="{BB962C8B-B14F-4D97-AF65-F5344CB8AC3E}">
        <p14:creationId xmlns:p14="http://schemas.microsoft.com/office/powerpoint/2010/main" val="1966439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F499-6B22-9436-493B-A2F963C49445}"/>
              </a:ext>
            </a:extLst>
          </p:cNvPr>
          <p:cNvSpPr>
            <a:spLocks noGrp="1"/>
          </p:cNvSpPr>
          <p:nvPr>
            <p:ph type="ctrTitle"/>
          </p:nvPr>
        </p:nvSpPr>
        <p:spPr/>
        <p:txBody>
          <a:bodyPr/>
          <a:lstStyle/>
          <a:p>
            <a:r>
              <a:rPr lang="en-GB" dirty="0"/>
              <a:t>Example of TDD: Shopping Cart</a:t>
            </a:r>
            <a:endParaRPr lang="da-DK" dirty="0"/>
          </a:p>
        </p:txBody>
      </p:sp>
      <p:sp>
        <p:nvSpPr>
          <p:cNvPr id="3" name="Subtitle 2">
            <a:extLst>
              <a:ext uri="{FF2B5EF4-FFF2-40B4-BE49-F238E27FC236}">
                <a16:creationId xmlns:a16="http://schemas.microsoft.com/office/drawing/2014/main" id="{2106CC79-93CC-B4D6-2CC4-330574C0C0B9}"/>
              </a:ext>
            </a:extLst>
          </p:cNvPr>
          <p:cNvSpPr>
            <a:spLocks noGrp="1"/>
          </p:cNvSpPr>
          <p:nvPr>
            <p:ph type="subTitle" idx="1"/>
          </p:nvPr>
        </p:nvSpPr>
        <p:spPr/>
        <p:txBody>
          <a:bodyPr/>
          <a:lstStyle/>
          <a:p>
            <a:endParaRPr lang="da-DK"/>
          </a:p>
        </p:txBody>
      </p:sp>
    </p:spTree>
    <p:extLst>
      <p:ext uri="{BB962C8B-B14F-4D97-AF65-F5344CB8AC3E}">
        <p14:creationId xmlns:p14="http://schemas.microsoft.com/office/powerpoint/2010/main" val="1449063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4C43-0E90-0346-13D2-2BFB01D20105}"/>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F18787AE-59BF-7784-D80D-B06C46A54BEF}"/>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6C7C11F6-D4F9-8CEC-00F4-222BBFCC40A4}"/>
              </a:ext>
            </a:extLst>
          </p:cNvPr>
          <p:cNvPicPr>
            <a:picLocks noChangeAspect="1"/>
          </p:cNvPicPr>
          <p:nvPr/>
        </p:nvPicPr>
        <p:blipFill>
          <a:blip r:embed="rId3"/>
          <a:stretch>
            <a:fillRect/>
          </a:stretch>
        </p:blipFill>
        <p:spPr>
          <a:xfrm>
            <a:off x="616688" y="287153"/>
            <a:ext cx="6544907" cy="5033222"/>
          </a:xfrm>
          <a:prstGeom prst="rect">
            <a:avLst/>
          </a:prstGeom>
        </p:spPr>
      </p:pic>
    </p:spTree>
    <p:extLst>
      <p:ext uri="{BB962C8B-B14F-4D97-AF65-F5344CB8AC3E}">
        <p14:creationId xmlns:p14="http://schemas.microsoft.com/office/powerpoint/2010/main" val="3834242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C1A39-BB5D-F4DA-BDA3-4823D0A4FDED}"/>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37D809D6-983E-9D3B-A421-D8C34479944C}"/>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5C56F8DD-70E6-94A4-50E3-B41B9437EB2A}"/>
              </a:ext>
            </a:extLst>
          </p:cNvPr>
          <p:cNvPicPr>
            <a:picLocks noChangeAspect="1"/>
          </p:cNvPicPr>
          <p:nvPr/>
        </p:nvPicPr>
        <p:blipFill>
          <a:blip r:embed="rId2"/>
          <a:stretch>
            <a:fillRect/>
          </a:stretch>
        </p:blipFill>
        <p:spPr>
          <a:xfrm>
            <a:off x="496186" y="188082"/>
            <a:ext cx="10771375" cy="6233983"/>
          </a:xfrm>
          <a:prstGeom prst="rect">
            <a:avLst/>
          </a:prstGeom>
        </p:spPr>
      </p:pic>
    </p:spTree>
    <p:extLst>
      <p:ext uri="{BB962C8B-B14F-4D97-AF65-F5344CB8AC3E}">
        <p14:creationId xmlns:p14="http://schemas.microsoft.com/office/powerpoint/2010/main" val="1925819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CA07D-8977-6DAB-4C93-621BE43C6C58}"/>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ACB45D7A-B807-CA81-4B17-BDD0D2436EC1}"/>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0132E356-6E47-738E-463B-C02A1CECF05A}"/>
              </a:ext>
            </a:extLst>
          </p:cNvPr>
          <p:cNvPicPr>
            <a:picLocks noChangeAspect="1"/>
          </p:cNvPicPr>
          <p:nvPr/>
        </p:nvPicPr>
        <p:blipFill>
          <a:blip r:embed="rId2"/>
          <a:stretch>
            <a:fillRect/>
          </a:stretch>
        </p:blipFill>
        <p:spPr>
          <a:xfrm>
            <a:off x="395319" y="198474"/>
            <a:ext cx="10868104" cy="6158859"/>
          </a:xfrm>
          <a:prstGeom prst="rect">
            <a:avLst/>
          </a:prstGeom>
        </p:spPr>
      </p:pic>
    </p:spTree>
    <p:extLst>
      <p:ext uri="{BB962C8B-B14F-4D97-AF65-F5344CB8AC3E}">
        <p14:creationId xmlns:p14="http://schemas.microsoft.com/office/powerpoint/2010/main" val="408938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3945B-7DCF-15C7-60E9-9FAC7CBD514A}"/>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FBAAB44B-6615-633E-5C4B-4DA6D16A7111}"/>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86D4C7CE-26B6-8EBF-D0B1-F47DDE162643}"/>
              </a:ext>
            </a:extLst>
          </p:cNvPr>
          <p:cNvPicPr>
            <a:picLocks noChangeAspect="1"/>
          </p:cNvPicPr>
          <p:nvPr/>
        </p:nvPicPr>
        <p:blipFill>
          <a:blip r:embed="rId2"/>
          <a:stretch>
            <a:fillRect/>
          </a:stretch>
        </p:blipFill>
        <p:spPr>
          <a:xfrm>
            <a:off x="602293" y="365125"/>
            <a:ext cx="9831791" cy="5757157"/>
          </a:xfrm>
          <a:prstGeom prst="rect">
            <a:avLst/>
          </a:prstGeom>
        </p:spPr>
      </p:pic>
    </p:spTree>
    <p:extLst>
      <p:ext uri="{BB962C8B-B14F-4D97-AF65-F5344CB8AC3E}">
        <p14:creationId xmlns:p14="http://schemas.microsoft.com/office/powerpoint/2010/main" val="1555230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5B14-A5D5-936E-467B-8702131B1170}"/>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11E8F75A-D7FE-F755-38B7-1C3CBCA95B3A}"/>
              </a:ext>
            </a:extLst>
          </p:cNvPr>
          <p:cNvSpPr>
            <a:spLocks noGrp="1"/>
          </p:cNvSpPr>
          <p:nvPr>
            <p:ph idx="1"/>
          </p:nvPr>
        </p:nvSpPr>
        <p:spPr/>
        <p:txBody>
          <a:bodyPr/>
          <a:lstStyle/>
          <a:p>
            <a:endParaRPr lang="da-DK"/>
          </a:p>
        </p:txBody>
      </p:sp>
      <p:pic>
        <p:nvPicPr>
          <p:cNvPr id="5" name="Picture 4">
            <a:extLst>
              <a:ext uri="{FF2B5EF4-FFF2-40B4-BE49-F238E27FC236}">
                <a16:creationId xmlns:a16="http://schemas.microsoft.com/office/drawing/2014/main" id="{BF4D937A-B385-CA9C-EE2D-37869C522EC8}"/>
              </a:ext>
            </a:extLst>
          </p:cNvPr>
          <p:cNvPicPr>
            <a:picLocks noChangeAspect="1"/>
          </p:cNvPicPr>
          <p:nvPr/>
        </p:nvPicPr>
        <p:blipFill>
          <a:blip r:embed="rId2"/>
          <a:stretch>
            <a:fillRect/>
          </a:stretch>
        </p:blipFill>
        <p:spPr>
          <a:xfrm>
            <a:off x="659218" y="365125"/>
            <a:ext cx="10515600" cy="6011134"/>
          </a:xfrm>
          <a:prstGeom prst="rect">
            <a:avLst/>
          </a:prstGeom>
        </p:spPr>
      </p:pic>
    </p:spTree>
    <p:extLst>
      <p:ext uri="{BB962C8B-B14F-4D97-AF65-F5344CB8AC3E}">
        <p14:creationId xmlns:p14="http://schemas.microsoft.com/office/powerpoint/2010/main" val="1516808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84FC4-6AF9-B16B-0AA1-719E73E14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870B0-A553-9E39-2865-A7C1036F1DBE}"/>
              </a:ext>
            </a:extLst>
          </p:cNvPr>
          <p:cNvSpPr>
            <a:spLocks noGrp="1"/>
          </p:cNvSpPr>
          <p:nvPr>
            <p:ph type="title"/>
          </p:nvPr>
        </p:nvSpPr>
        <p:spPr/>
        <p:txBody>
          <a:bodyPr/>
          <a:lstStyle/>
          <a:p>
            <a:r>
              <a:rPr lang="da-DK" dirty="0"/>
              <a:t>Opgave</a:t>
            </a:r>
          </a:p>
        </p:txBody>
      </p:sp>
      <p:sp>
        <p:nvSpPr>
          <p:cNvPr id="3" name="Content Placeholder 2">
            <a:extLst>
              <a:ext uri="{FF2B5EF4-FFF2-40B4-BE49-F238E27FC236}">
                <a16:creationId xmlns:a16="http://schemas.microsoft.com/office/drawing/2014/main" id="{06AF2986-4E7D-4749-6901-F95D80E77833}"/>
              </a:ext>
            </a:extLst>
          </p:cNvPr>
          <p:cNvSpPr>
            <a:spLocks noGrp="1"/>
          </p:cNvSpPr>
          <p:nvPr>
            <p:ph idx="1"/>
          </p:nvPr>
        </p:nvSpPr>
        <p:spPr>
          <a:xfrm>
            <a:off x="838200" y="1538177"/>
            <a:ext cx="10515600" cy="4638786"/>
          </a:xfrm>
        </p:spPr>
        <p:txBody>
          <a:bodyPr>
            <a:normAutofit fontScale="62500" lnSpcReduction="20000"/>
          </a:bodyPr>
          <a:lstStyle/>
          <a:p>
            <a:r>
              <a:rPr lang="da-DK" dirty="0"/>
              <a:t>I arbejder som IT-arkitekter.</a:t>
            </a:r>
          </a:p>
          <a:p>
            <a:r>
              <a:rPr lang="da-DK" dirty="0"/>
              <a:t>I arbejder et sted, hvor der udvikles i Python.</a:t>
            </a:r>
          </a:p>
          <a:p>
            <a:endParaRPr lang="da-DK" dirty="0"/>
          </a:p>
          <a:p>
            <a:r>
              <a:rPr lang="da-DK" dirty="0"/>
              <a:t>I skal komme med et forslag til værktøjer, som kan understøtte udviklernes brug af Test Driven Development</a:t>
            </a:r>
          </a:p>
          <a:p>
            <a:pPr lvl="1"/>
            <a:r>
              <a:rPr lang="da-DK" dirty="0"/>
              <a:t>Fokus skal være på programmeringsdelen</a:t>
            </a:r>
          </a:p>
          <a:p>
            <a:pPr lvl="1"/>
            <a:r>
              <a:rPr lang="da-DK" dirty="0"/>
              <a:t>Forestil jer at den nuværende tilgang ikke er TDD</a:t>
            </a:r>
          </a:p>
          <a:p>
            <a:pPr lvl="1"/>
            <a:r>
              <a:rPr lang="da-DK" dirty="0"/>
              <a:t>Lad jer inspirere af andre – læs, søg, spørg (AI)</a:t>
            </a:r>
          </a:p>
          <a:p>
            <a:r>
              <a:rPr lang="da-DK" dirty="0"/>
              <a:t>Afprøv et enkelt værktøj</a:t>
            </a:r>
          </a:p>
          <a:p>
            <a:r>
              <a:rPr lang="da-DK" dirty="0"/>
              <a:t>Præsentation</a:t>
            </a:r>
          </a:p>
          <a:p>
            <a:pPr lvl="1"/>
            <a:r>
              <a:rPr lang="da-DK" dirty="0"/>
              <a:t>Fremlægges i næste uge for klassen</a:t>
            </a:r>
          </a:p>
          <a:p>
            <a:pPr lvl="1"/>
            <a:r>
              <a:rPr lang="da-DK" dirty="0"/>
              <a:t>1 slide</a:t>
            </a:r>
          </a:p>
          <a:p>
            <a:pPr lvl="1"/>
            <a:r>
              <a:rPr lang="da-DK" dirty="0"/>
              <a:t>Anbefalet værktøj</a:t>
            </a:r>
          </a:p>
          <a:p>
            <a:pPr lvl="1"/>
            <a:r>
              <a:rPr lang="da-DK" dirty="0"/>
              <a:t>Fordele og ulemper (evt. erfaringer)</a:t>
            </a:r>
          </a:p>
          <a:p>
            <a:pPr lvl="1"/>
            <a:r>
              <a:rPr lang="da-DK" dirty="0"/>
              <a:t>Evt. en slide med alternativer (bilag)</a:t>
            </a:r>
          </a:p>
          <a:p>
            <a:r>
              <a:rPr lang="da-DK" dirty="0"/>
              <a:t>Lav evt. En simpel case f.eks. Med en funktion til at tage en kvadratrod. Start med test og fyld så på med de andre ting.</a:t>
            </a:r>
          </a:p>
          <a:p>
            <a:endParaRPr lang="da-DK" dirty="0"/>
          </a:p>
        </p:txBody>
      </p:sp>
    </p:spTree>
    <p:extLst>
      <p:ext uri="{BB962C8B-B14F-4D97-AF65-F5344CB8AC3E}">
        <p14:creationId xmlns:p14="http://schemas.microsoft.com/office/powerpoint/2010/main" val="3966547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7CFF7-FBB6-B220-820C-1F4FAA22934E}"/>
              </a:ext>
            </a:extLst>
          </p:cNvPr>
          <p:cNvSpPr>
            <a:spLocks noGrp="1"/>
          </p:cNvSpPr>
          <p:nvPr>
            <p:ph type="title"/>
          </p:nvPr>
        </p:nvSpPr>
        <p:spPr/>
        <p:txBody>
          <a:bodyPr/>
          <a:lstStyle/>
          <a:p>
            <a:endParaRPr lang="da-DK"/>
          </a:p>
        </p:txBody>
      </p:sp>
      <p:sp>
        <p:nvSpPr>
          <p:cNvPr id="3" name="Content Placeholder 2">
            <a:extLst>
              <a:ext uri="{FF2B5EF4-FFF2-40B4-BE49-F238E27FC236}">
                <a16:creationId xmlns:a16="http://schemas.microsoft.com/office/drawing/2014/main" id="{147633F5-4411-E763-7F2F-AF3480B9764F}"/>
              </a:ext>
            </a:extLst>
          </p:cNvPr>
          <p:cNvSpPr>
            <a:spLocks noGrp="1"/>
          </p:cNvSpPr>
          <p:nvPr>
            <p:ph idx="1"/>
          </p:nvPr>
        </p:nvSpPr>
        <p:spPr/>
        <p:txBody>
          <a:bodyPr/>
          <a:lstStyle/>
          <a:p>
            <a:r>
              <a:rPr lang="da-DK" dirty="0"/>
              <a:t>Unittest</a:t>
            </a:r>
          </a:p>
          <a:p>
            <a:r>
              <a:rPr lang="da-DK" dirty="0"/>
              <a:t>Pytest</a:t>
            </a:r>
          </a:p>
          <a:p>
            <a:r>
              <a:rPr lang="da-DK" dirty="0"/>
              <a:t>Nose2</a:t>
            </a:r>
          </a:p>
          <a:p>
            <a:r>
              <a:rPr lang="da-DK" dirty="0"/>
              <a:t>Intet framework...</a:t>
            </a:r>
          </a:p>
        </p:txBody>
      </p:sp>
    </p:spTree>
    <p:extLst>
      <p:ext uri="{BB962C8B-B14F-4D97-AF65-F5344CB8AC3E}">
        <p14:creationId xmlns:p14="http://schemas.microsoft.com/office/powerpoint/2010/main" val="1421669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E90A-43DA-A3B1-FE46-6CCE0A888074}"/>
              </a:ext>
            </a:extLst>
          </p:cNvPr>
          <p:cNvSpPr>
            <a:spLocks noGrp="1"/>
          </p:cNvSpPr>
          <p:nvPr>
            <p:ph type="title"/>
          </p:nvPr>
        </p:nvSpPr>
        <p:spPr/>
        <p:txBody>
          <a:bodyPr/>
          <a:lstStyle/>
          <a:p>
            <a:r>
              <a:rPr lang="da-DK" dirty="0"/>
              <a:t>Pytest</a:t>
            </a:r>
          </a:p>
        </p:txBody>
      </p:sp>
      <p:sp>
        <p:nvSpPr>
          <p:cNvPr id="3" name="Content Placeholder 2">
            <a:extLst>
              <a:ext uri="{FF2B5EF4-FFF2-40B4-BE49-F238E27FC236}">
                <a16:creationId xmlns:a16="http://schemas.microsoft.com/office/drawing/2014/main" id="{30BD3F2E-F039-C734-FAE7-5F86E478A072}"/>
              </a:ext>
            </a:extLst>
          </p:cNvPr>
          <p:cNvSpPr>
            <a:spLocks noGrp="1"/>
          </p:cNvSpPr>
          <p:nvPr>
            <p:ph idx="1"/>
          </p:nvPr>
        </p:nvSpPr>
        <p:spPr/>
        <p:txBody>
          <a:bodyPr>
            <a:normAutofit fontScale="92500" lnSpcReduction="20000"/>
          </a:bodyPr>
          <a:lstStyle/>
          <a:p>
            <a:r>
              <a:rPr lang="en-GB" dirty="0" err="1"/>
              <a:t>pytest</a:t>
            </a:r>
            <a:r>
              <a:rPr lang="en-GB" dirty="0"/>
              <a:t>-html</a:t>
            </a:r>
          </a:p>
          <a:p>
            <a:pPr lvl="1"/>
            <a:r>
              <a:rPr lang="en-GB" dirty="0"/>
              <a:t>Generates HTML test reports</a:t>
            </a:r>
          </a:p>
          <a:p>
            <a:pPr lvl="1"/>
            <a:r>
              <a:rPr lang="en-GB" dirty="0"/>
              <a:t>Easy to install: pip install </a:t>
            </a:r>
            <a:r>
              <a:rPr lang="en-GB" dirty="0" err="1"/>
              <a:t>pytest</a:t>
            </a:r>
            <a:r>
              <a:rPr lang="en-GB" dirty="0"/>
              <a:t>-html</a:t>
            </a:r>
          </a:p>
          <a:p>
            <a:pPr lvl="1"/>
            <a:r>
              <a:rPr lang="en-GB" dirty="0"/>
              <a:t>Run with: </a:t>
            </a:r>
            <a:r>
              <a:rPr lang="en-GB" dirty="0" err="1"/>
              <a:t>pytest</a:t>
            </a:r>
            <a:r>
              <a:rPr lang="en-GB" dirty="0"/>
              <a:t> --html=report.html</a:t>
            </a:r>
          </a:p>
          <a:p>
            <a:r>
              <a:rPr lang="da-DK" dirty="0"/>
              <a:t>pytest-sugar</a:t>
            </a:r>
          </a:p>
          <a:p>
            <a:pPr lvl="1"/>
            <a:r>
              <a:rPr lang="da-DK" dirty="0"/>
              <a:t>Improves terminal test output</a:t>
            </a:r>
          </a:p>
          <a:p>
            <a:pPr lvl="1"/>
            <a:r>
              <a:rPr lang="da-DK" dirty="0"/>
              <a:t>Colorful, more readable results</a:t>
            </a:r>
          </a:p>
          <a:p>
            <a:pPr lvl="1"/>
            <a:r>
              <a:rPr lang="da-DK" dirty="0"/>
              <a:t>Install: pip install pytest-sugar</a:t>
            </a:r>
          </a:p>
          <a:p>
            <a:r>
              <a:rPr lang="da-DK" dirty="0"/>
              <a:t>Coverage.py</a:t>
            </a:r>
          </a:p>
          <a:p>
            <a:pPr lvl="1"/>
            <a:r>
              <a:rPr lang="da-DK" dirty="0"/>
              <a:t>Code coverage visualization</a:t>
            </a:r>
          </a:p>
          <a:p>
            <a:pPr lvl="1"/>
            <a:r>
              <a:rPr lang="da-DK" dirty="0"/>
              <a:t>Shows which code parts are tested</a:t>
            </a:r>
          </a:p>
          <a:p>
            <a:pPr lvl="1"/>
            <a:r>
              <a:rPr lang="da-DK" dirty="0"/>
              <a:t>Install: pip install coverage</a:t>
            </a:r>
          </a:p>
          <a:p>
            <a:pPr lvl="1"/>
            <a:r>
              <a:rPr lang="da-DK" dirty="0"/>
              <a:t>Run with: coverage run -m pytest</a:t>
            </a:r>
          </a:p>
        </p:txBody>
      </p:sp>
    </p:spTree>
    <p:extLst>
      <p:ext uri="{BB962C8B-B14F-4D97-AF65-F5344CB8AC3E}">
        <p14:creationId xmlns:p14="http://schemas.microsoft.com/office/powerpoint/2010/main" val="457274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864F-9DA8-4A49-B1B5-85B0943FF4A7}"/>
              </a:ext>
            </a:extLst>
          </p:cNvPr>
          <p:cNvSpPr>
            <a:spLocks noGrp="1"/>
          </p:cNvSpPr>
          <p:nvPr>
            <p:ph type="title"/>
          </p:nvPr>
        </p:nvSpPr>
        <p:spPr/>
        <p:txBody>
          <a:bodyPr/>
          <a:lstStyle/>
          <a:p>
            <a:r>
              <a:rPr lang="da-DK" dirty="0"/>
              <a:t>Prototyping</a:t>
            </a:r>
          </a:p>
        </p:txBody>
      </p:sp>
      <p:sp>
        <p:nvSpPr>
          <p:cNvPr id="3" name="Content Placeholder 2">
            <a:extLst>
              <a:ext uri="{FF2B5EF4-FFF2-40B4-BE49-F238E27FC236}">
                <a16:creationId xmlns:a16="http://schemas.microsoft.com/office/drawing/2014/main" id="{466A1764-AFBF-C230-4353-1C0EDBBFED6E}"/>
              </a:ext>
            </a:extLst>
          </p:cNvPr>
          <p:cNvSpPr>
            <a:spLocks noGrp="1"/>
          </p:cNvSpPr>
          <p:nvPr>
            <p:ph idx="1"/>
          </p:nvPr>
        </p:nvSpPr>
        <p:spPr/>
        <p:txBody>
          <a:bodyPr/>
          <a:lstStyle/>
          <a:p>
            <a:r>
              <a:rPr lang="da-DK" dirty="0"/>
              <a:t>Bruger protyper efter hver iteration til at forbedre systemet</a:t>
            </a:r>
          </a:p>
        </p:txBody>
      </p:sp>
    </p:spTree>
    <p:extLst>
      <p:ext uri="{BB962C8B-B14F-4D97-AF65-F5344CB8AC3E}">
        <p14:creationId xmlns:p14="http://schemas.microsoft.com/office/powerpoint/2010/main" val="2413921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TotalTime>
  <Words>2067</Words>
  <Application>Microsoft Office PowerPoint</Application>
  <PresentationFormat>Widescreen</PresentationFormat>
  <Paragraphs>202</Paragraphs>
  <Slides>37</Slides>
  <Notes>11</Notes>
  <HiddenSlides>1</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Systemdesign</vt:lpstr>
      <vt:lpstr>Agenda</vt:lpstr>
      <vt:lpstr>Kursets struktur og emner</vt:lpstr>
      <vt:lpstr>Studieordning - læringsmål</vt:lpstr>
      <vt:lpstr>Undervisningsform</vt:lpstr>
      <vt:lpstr>Eksamensform</vt:lpstr>
      <vt:lpstr>Projekter</vt:lpstr>
      <vt:lpstr>PowerPoint Presentation</vt:lpstr>
      <vt:lpstr>Recap af systemudviklingsmetoder</vt:lpstr>
      <vt:lpstr>Metoder – vandfald – ”plan driven”</vt:lpstr>
      <vt:lpstr>Agile</vt:lpstr>
      <vt:lpstr>Agile</vt:lpstr>
      <vt:lpstr>Søger at løse...</vt:lpstr>
      <vt:lpstr>Agile Manifesto</vt:lpstr>
      <vt:lpstr>Øvelse</vt:lpstr>
      <vt:lpstr>Agilt fokus I</vt:lpstr>
      <vt:lpstr>Agilt fokus II</vt:lpstr>
      <vt:lpstr>SCRUM</vt:lpstr>
      <vt:lpstr>Kanban</vt:lpstr>
      <vt:lpstr>Øvelse</vt:lpstr>
      <vt:lpstr>Systemudviklingsmodeller</vt:lpstr>
      <vt:lpstr>Spiral model (fra 1986)</vt:lpstr>
      <vt:lpstr>Rational Unified Process</vt:lpstr>
      <vt:lpstr>eXtreme Programming</vt:lpstr>
      <vt:lpstr>Test Driven Development</vt:lpstr>
      <vt:lpstr>PowerPoint Presentation</vt:lpstr>
      <vt:lpstr>Hvorfor TDD?</vt:lpstr>
      <vt:lpstr>Example of TDD: Shopping Cart</vt:lpstr>
      <vt:lpstr>PowerPoint Presentation</vt:lpstr>
      <vt:lpstr>PowerPoint Presentation</vt:lpstr>
      <vt:lpstr>PowerPoint Presentation</vt:lpstr>
      <vt:lpstr>PowerPoint Presentation</vt:lpstr>
      <vt:lpstr>PowerPoint Presentation</vt:lpstr>
      <vt:lpstr>Opgave</vt:lpstr>
      <vt:lpstr>PowerPoint Presentation</vt:lpstr>
      <vt:lpstr>Pytest</vt:lpstr>
      <vt:lpstr>Prototyping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Lasse Vogelsang</dc:creator>
  <cp:lastModifiedBy>Lasse Vogelsang</cp:lastModifiedBy>
  <cp:revision>10</cp:revision>
  <cp:lastPrinted>2025-01-29T10:09:42Z</cp:lastPrinted>
  <dcterms:created xsi:type="dcterms:W3CDTF">2025-01-25T05:35:56Z</dcterms:created>
  <dcterms:modified xsi:type="dcterms:W3CDTF">2026-01-18T08:20:35Z</dcterms:modified>
</cp:coreProperties>
</file>